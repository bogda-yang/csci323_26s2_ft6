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8288000" cy="10287000"/>
  <p:notesSz cx="6858000" cy="9144000"/>
  <p:embeddedFontLst>
    <p:embeddedFont>
      <p:font typeface="Oswald"/>
      <p:regular r:id="rId20"/>
    </p:embeddedFont>
    <p:embeddedFont>
      <p:font typeface="Poppins" panose="00000500000000000000"/>
      <p:regular r:id="rId21"/>
    </p:embeddedFont>
    <p:embeddedFont>
      <p:font typeface="DM Sans"/>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49FD4-13C6-4986-B67F-3A5D23CD13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0" name="Google Shape;120;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3" name="Google Shape;133;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3" name="Google Shape;16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8" name="Google Shape;178;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3" name="Google Shape;193;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 name="Shape 205"/>
        <p:cNvGrpSpPr/>
        <p:nvPr/>
      </p:nvGrpSpPr>
      <p:grpSpPr>
        <a:xfrm>
          <a:off x="0" y="0"/>
          <a:ext cx="0" cy="0"/>
          <a:chOff x="0" y="0"/>
          <a:chExt cx="0" cy="0"/>
        </a:xfrm>
      </p:grpSpPr>
      <p:sp>
        <p:nvSpPr>
          <p:cNvPr id="206" name="Google Shape;206;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7" name="Google Shape;207;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5" name="Google Shape;225;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1" name="Shape 241"/>
        <p:cNvGrpSpPr/>
        <p:nvPr/>
      </p:nvGrpSpPr>
      <p:grpSpPr>
        <a:xfrm>
          <a:off x="0" y="0"/>
          <a:ext cx="0" cy="0"/>
          <a:chOff x="0" y="0"/>
          <a:chExt cx="0" cy="0"/>
        </a:xfrm>
      </p:grpSpPr>
      <p:sp>
        <p:nvSpPr>
          <p:cNvPr id="242" name="Google Shape;242;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3" name="Google Shape;243;p1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8" name="Google Shape;278;p1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1" name="Google Shape;291;p1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19"/>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20"/>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20"/>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20"/>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22"/>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type="pic" idx="2"/>
          </p:nvPr>
        </p:nvSpPr>
        <p:spPr>
          <a:xfrm>
            <a:off x="1792288" y="612775"/>
            <a:ext cx="5486400" cy="4114800"/>
          </a:xfrm>
          <a:prstGeom prst="rect">
            <a:avLst/>
          </a:prstGeom>
          <a:noFill/>
          <a:ln>
            <a:noFill/>
          </a:ln>
        </p:spPr>
      </p:sp>
      <p:sp>
        <p:nvSpPr>
          <p:cNvPr id="64" name="Google Shape;64;p23"/>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2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2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2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70402020202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9pPr>
          </a:lstStyle>
          <a:p/>
        </p:txBody>
      </p:sp>
      <p:sp>
        <p:nvSpPr>
          <p:cNvPr id="8" name="Google Shape;8;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9" name="Google Shape;9;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0" name="Google Shape;10;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grpSp>
        <p:nvGrpSpPr>
          <p:cNvPr id="85" name="Google Shape;85;p1"/>
          <p:cNvGrpSpPr/>
          <p:nvPr/>
        </p:nvGrpSpPr>
        <p:grpSpPr>
          <a:xfrm>
            <a:off x="1028700" y="811709"/>
            <a:ext cx="16230600" cy="8446591"/>
            <a:chOff x="0" y="-57150"/>
            <a:chExt cx="4274726" cy="2224617"/>
          </a:xfrm>
        </p:grpSpPr>
        <p:sp>
          <p:nvSpPr>
            <p:cNvPr id="86" name="Google Shape;86;p1"/>
            <p:cNvSpPr/>
            <p:nvPr/>
          </p:nvSpPr>
          <p:spPr>
            <a:xfrm>
              <a:off x="0" y="0"/>
              <a:ext cx="4274726" cy="2167467"/>
            </a:xfrm>
            <a:custGeom>
              <a:avLst/>
              <a:gdLst/>
              <a:ahLst/>
              <a:cxnLst/>
              <a:rect l="l" t="t" r="r" b="b"/>
              <a:pathLst>
                <a:path w="4274726" h="2167467" extrusionOk="0">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1"/>
            <p:cNvSpPr txBox="1"/>
            <p:nvPr/>
          </p:nvSpPr>
          <p:spPr>
            <a:xfrm>
              <a:off x="0" y="-57150"/>
              <a:ext cx="4274726" cy="2224617"/>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p:nvPr/>
        </p:nvSpPr>
        <p:spPr>
          <a:xfrm>
            <a:off x="9495491" y="1210179"/>
            <a:ext cx="7763809" cy="7650469"/>
          </a:xfrm>
          <a:custGeom>
            <a:avLst/>
            <a:gdLst/>
            <a:ahLst/>
            <a:cxnLst/>
            <a:rect l="l" t="t" r="r" b="b"/>
            <a:pathLst>
              <a:path w="7763809" h="7650469" extrusionOk="0">
                <a:moveTo>
                  <a:pt x="0" y="0"/>
                </a:moveTo>
                <a:lnTo>
                  <a:pt x="7763809" y="0"/>
                </a:lnTo>
                <a:lnTo>
                  <a:pt x="7763809" y="7650469"/>
                </a:lnTo>
                <a:lnTo>
                  <a:pt x="0" y="7650469"/>
                </a:lnTo>
                <a:lnTo>
                  <a:pt x="0" y="0"/>
                </a:lnTo>
                <a:close/>
              </a:path>
            </a:pathLst>
          </a:custGeom>
          <a:blipFill rotWithShape="1">
            <a:blip r:embed="rId2"/>
            <a:stretch>
              <a:fillRect/>
            </a:stretch>
          </a:blipFill>
          <a:ln>
            <a:noFill/>
          </a:ln>
        </p:spPr>
      </p:sp>
      <p:sp>
        <p:nvSpPr>
          <p:cNvPr id="89" name="Google Shape;89;p1"/>
          <p:cNvSpPr/>
          <p:nvPr/>
        </p:nvSpPr>
        <p:spPr>
          <a:xfrm>
            <a:off x="10502224" y="2947576"/>
            <a:ext cx="6439680" cy="5397373"/>
          </a:xfrm>
          <a:custGeom>
            <a:avLst/>
            <a:gdLst/>
            <a:ahLst/>
            <a:cxnLst/>
            <a:rect l="l" t="t" r="r" b="b"/>
            <a:pathLst>
              <a:path w="6439680" h="5397373" extrusionOk="0">
                <a:moveTo>
                  <a:pt x="0" y="0"/>
                </a:moveTo>
                <a:lnTo>
                  <a:pt x="6439680" y="0"/>
                </a:lnTo>
                <a:lnTo>
                  <a:pt x="6439680" y="5397373"/>
                </a:lnTo>
                <a:lnTo>
                  <a:pt x="0" y="5397373"/>
                </a:lnTo>
                <a:lnTo>
                  <a:pt x="0" y="0"/>
                </a:lnTo>
                <a:close/>
              </a:path>
            </a:pathLst>
          </a:custGeom>
          <a:blipFill rotWithShape="1">
            <a:blip r:embed="rId3"/>
            <a:stretch>
              <a:fillRect/>
            </a:stretch>
          </a:blipFill>
          <a:ln>
            <a:noFill/>
          </a:ln>
        </p:spPr>
      </p:sp>
      <p:sp>
        <p:nvSpPr>
          <p:cNvPr id="90" name="Google Shape;90;p1"/>
          <p:cNvSpPr txBox="1"/>
          <p:nvPr/>
        </p:nvSpPr>
        <p:spPr>
          <a:xfrm>
            <a:off x="1943279" y="2780483"/>
            <a:ext cx="9475067" cy="3836608"/>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9570" b="1" i="0" u="none" strike="noStrike" cap="none">
                <a:solidFill>
                  <a:srgbClr val="CD4146"/>
                </a:solidFill>
                <a:latin typeface="Oswald"/>
                <a:ea typeface="Oswald"/>
                <a:cs typeface="Oswald"/>
                <a:sym typeface="Oswald"/>
              </a:rPr>
              <a:t>HOUSE PRICE PREDICTION</a:t>
            </a:r>
            <a:endParaRPr sz="9570" b="1" i="0" u="none" strike="noStrike" cap="none">
              <a:solidFill>
                <a:srgbClr val="CD4146"/>
              </a:solidFill>
              <a:latin typeface="Oswald"/>
              <a:ea typeface="Oswald"/>
              <a:cs typeface="Oswald"/>
              <a:sym typeface="Oswald"/>
            </a:endParaRPr>
          </a:p>
          <a:p>
            <a:pPr marL="0" marR="0" lvl="0" indent="0" algn="l" rtl="0">
              <a:lnSpc>
                <a:spcPct val="105000"/>
              </a:lnSpc>
              <a:spcBef>
                <a:spcPts val="0"/>
              </a:spcBef>
              <a:spcAft>
                <a:spcPts val="0"/>
              </a:spcAft>
              <a:buNone/>
            </a:pPr>
            <a:endParaRPr sz="9570" b="1" i="0" u="none" strike="noStrike" cap="none">
              <a:solidFill>
                <a:srgbClr val="CD4146"/>
              </a:solidFill>
              <a:latin typeface="Oswald"/>
              <a:ea typeface="Oswald"/>
              <a:cs typeface="Oswald"/>
              <a:sym typeface="Oswald"/>
            </a:endParaRPr>
          </a:p>
        </p:txBody>
      </p:sp>
      <p:sp>
        <p:nvSpPr>
          <p:cNvPr id="91" name="Google Shape;91;p1"/>
          <p:cNvSpPr txBox="1"/>
          <p:nvPr/>
        </p:nvSpPr>
        <p:spPr>
          <a:xfrm>
            <a:off x="2503425" y="5964509"/>
            <a:ext cx="5438400" cy="2968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Team members:</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Yang Yu Hao</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Sun Gan Yu</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Xu Hao Yang</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Xu Wei Bin</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sz="2410" b="0" i="0" u="none" strike="noStrike" cap="none">
                <a:solidFill>
                  <a:srgbClr val="CD4146"/>
                </a:solidFill>
                <a:latin typeface="Poppins" panose="00000500000000000000"/>
                <a:ea typeface="Poppins" panose="00000500000000000000"/>
                <a:cs typeface="Poppins" panose="00000500000000000000"/>
                <a:sym typeface="Poppins" panose="00000500000000000000"/>
              </a:rPr>
              <a:t>Zhao Qi Heng</a:t>
            </a:r>
            <a:endParaRPr sz="241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grpSp>
        <p:nvGrpSpPr>
          <p:cNvPr id="97" name="Google Shape;97;p2"/>
          <p:cNvGrpSpPr/>
          <p:nvPr/>
        </p:nvGrpSpPr>
        <p:grpSpPr>
          <a:xfrm>
            <a:off x="7368430" y="1612012"/>
            <a:ext cx="9890870" cy="7646288"/>
            <a:chOff x="0" y="-57150"/>
            <a:chExt cx="2605003" cy="2013837"/>
          </a:xfrm>
        </p:grpSpPr>
        <p:sp>
          <p:nvSpPr>
            <p:cNvPr id="98" name="Google Shape;98;p2"/>
            <p:cNvSpPr/>
            <p:nvPr/>
          </p:nvSpPr>
          <p:spPr>
            <a:xfrm>
              <a:off x="0" y="0"/>
              <a:ext cx="2605003" cy="1956687"/>
            </a:xfrm>
            <a:custGeom>
              <a:avLst/>
              <a:gdLst/>
              <a:ahLst/>
              <a:cxnLst/>
              <a:rect l="l" t="t" r="r" b="b"/>
              <a:pathLst>
                <a:path w="2605003" h="1956687" extrusionOk="0">
                  <a:moveTo>
                    <a:pt x="26613" y="0"/>
                  </a:moveTo>
                  <a:lnTo>
                    <a:pt x="2578390" y="0"/>
                  </a:lnTo>
                  <a:cubicBezTo>
                    <a:pt x="2593088" y="0"/>
                    <a:pt x="2605003" y="11915"/>
                    <a:pt x="2605003" y="26613"/>
                  </a:cubicBezTo>
                  <a:lnTo>
                    <a:pt x="2605003" y="1930074"/>
                  </a:lnTo>
                  <a:cubicBezTo>
                    <a:pt x="2605003" y="1937133"/>
                    <a:pt x="2602199" y="1943902"/>
                    <a:pt x="2597208" y="1948893"/>
                  </a:cubicBezTo>
                  <a:cubicBezTo>
                    <a:pt x="2592217" y="1953883"/>
                    <a:pt x="2585448" y="1956687"/>
                    <a:pt x="2578390" y="1956687"/>
                  </a:cubicBezTo>
                  <a:lnTo>
                    <a:pt x="26613" y="1956687"/>
                  </a:lnTo>
                  <a:cubicBezTo>
                    <a:pt x="11915" y="1956687"/>
                    <a:pt x="0" y="1944772"/>
                    <a:pt x="0" y="1930074"/>
                  </a:cubicBezTo>
                  <a:lnTo>
                    <a:pt x="0" y="26613"/>
                  </a:lnTo>
                  <a:cubicBezTo>
                    <a:pt x="0" y="11915"/>
                    <a:pt x="11915" y="0"/>
                    <a:pt x="26613"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2"/>
            <p:cNvSpPr txBox="1"/>
            <p:nvPr/>
          </p:nvSpPr>
          <p:spPr>
            <a:xfrm>
              <a:off x="0" y="-57150"/>
              <a:ext cx="2605003" cy="2013837"/>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 name="Google Shape;100;p2"/>
          <p:cNvSpPr txBox="1"/>
          <p:nvPr/>
        </p:nvSpPr>
        <p:spPr>
          <a:xfrm>
            <a:off x="8114276" y="2466765"/>
            <a:ext cx="7588549" cy="896090"/>
          </a:xfrm>
          <a:prstGeom prst="rect">
            <a:avLst/>
          </a:prstGeom>
          <a:noFill/>
          <a:ln>
            <a:noFill/>
          </a:ln>
        </p:spPr>
        <p:txBody>
          <a:bodyPr spcFirstLastPara="1" wrap="square" lIns="0" tIns="0" rIns="0" bIns="0" anchor="t" anchorCtr="0">
            <a:spAutoFit/>
          </a:bodyPr>
          <a:lstStyle/>
          <a:p>
            <a:pPr marL="0" marR="0" lvl="0" indent="0" algn="l" rtl="0">
              <a:lnSpc>
                <a:spcPct val="99000"/>
              </a:lnSpc>
              <a:spcBef>
                <a:spcPts val="0"/>
              </a:spcBef>
              <a:spcAft>
                <a:spcPts val="0"/>
              </a:spcAft>
              <a:buNone/>
            </a:pPr>
            <a:r>
              <a:rPr lang="en-US" sz="6815" b="0" i="0" u="none" strike="noStrike" cap="none">
                <a:solidFill>
                  <a:srgbClr val="CD4146"/>
                </a:solidFill>
                <a:latin typeface="Oswald"/>
                <a:ea typeface="Oswald"/>
                <a:cs typeface="Oswald"/>
                <a:sym typeface="Oswald"/>
              </a:rPr>
              <a:t>Content</a:t>
            </a:r>
            <a:endParaRPr sz="6815" b="0" i="0" u="none" strike="noStrike" cap="none">
              <a:solidFill>
                <a:srgbClr val="CD4146"/>
              </a:solidFill>
              <a:latin typeface="Oswald"/>
              <a:ea typeface="Oswald"/>
              <a:cs typeface="Oswald"/>
              <a:sym typeface="Oswald"/>
            </a:endParaRPr>
          </a:p>
        </p:txBody>
      </p:sp>
      <p:sp>
        <p:nvSpPr>
          <p:cNvPr id="101" name="Google Shape;101;p2"/>
          <p:cNvSpPr txBox="1"/>
          <p:nvPr/>
        </p:nvSpPr>
        <p:spPr>
          <a:xfrm>
            <a:off x="9237479" y="3640643"/>
            <a:ext cx="7411003" cy="111823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Introduction:</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Outlines the problem background, dataset, and study objectives.</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grpSp>
        <p:nvGrpSpPr>
          <p:cNvPr id="102" name="Google Shape;102;p2"/>
          <p:cNvGrpSpPr/>
          <p:nvPr/>
        </p:nvGrpSpPr>
        <p:grpSpPr>
          <a:xfrm>
            <a:off x="8154576" y="3697793"/>
            <a:ext cx="699655" cy="699655"/>
            <a:chOff x="0" y="0"/>
            <a:chExt cx="812800" cy="812800"/>
          </a:xfrm>
        </p:grpSpPr>
        <p:sp>
          <p:nvSpPr>
            <p:cNvPr id="103" name="Google Shape;103;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2"/>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2"/>
          <p:cNvSpPr txBox="1"/>
          <p:nvPr/>
        </p:nvSpPr>
        <p:spPr>
          <a:xfrm>
            <a:off x="8073976" y="3749628"/>
            <a:ext cx="780254" cy="51026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1</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06" name="Google Shape;106;p2"/>
          <p:cNvSpPr txBox="1"/>
          <p:nvPr/>
        </p:nvSpPr>
        <p:spPr>
          <a:xfrm>
            <a:off x="9197179" y="5486502"/>
            <a:ext cx="7411003" cy="148971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Model Comparison:</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Compares Random Forest, XGBoost, and Linear Regression in terms of method and performance.</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grpSp>
        <p:nvGrpSpPr>
          <p:cNvPr id="107" name="Google Shape;107;p2"/>
          <p:cNvGrpSpPr/>
          <p:nvPr/>
        </p:nvGrpSpPr>
        <p:grpSpPr>
          <a:xfrm>
            <a:off x="8194876" y="5553835"/>
            <a:ext cx="699655" cy="699655"/>
            <a:chOff x="0" y="0"/>
            <a:chExt cx="812800" cy="812800"/>
          </a:xfrm>
        </p:grpSpPr>
        <p:sp>
          <p:nvSpPr>
            <p:cNvPr id="108" name="Google Shape;10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2"/>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0" name="Google Shape;110;p2"/>
          <p:cNvSpPr txBox="1"/>
          <p:nvPr/>
        </p:nvSpPr>
        <p:spPr>
          <a:xfrm>
            <a:off x="8154576" y="5640424"/>
            <a:ext cx="780254" cy="51026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2</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11" name="Google Shape;111;p2"/>
          <p:cNvSpPr txBox="1"/>
          <p:nvPr/>
        </p:nvSpPr>
        <p:spPr>
          <a:xfrm>
            <a:off x="9197179" y="7352728"/>
            <a:ext cx="7411003" cy="148971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Summary:</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b="0" i="0" u="none" strike="noStrike" cap="none">
                <a:solidFill>
                  <a:srgbClr val="CD4146"/>
                </a:solidFill>
                <a:latin typeface="Poppins" panose="00000500000000000000"/>
                <a:ea typeface="Poppins" panose="00000500000000000000"/>
                <a:cs typeface="Poppins" panose="00000500000000000000"/>
                <a:sym typeface="Poppins" panose="00000500000000000000"/>
              </a:rPr>
              <a:t>Highlights the best-performing model and suggests future improvements.</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grpSp>
        <p:nvGrpSpPr>
          <p:cNvPr id="112" name="Google Shape;112;p2"/>
          <p:cNvGrpSpPr/>
          <p:nvPr/>
        </p:nvGrpSpPr>
        <p:grpSpPr>
          <a:xfrm>
            <a:off x="8154576" y="7409878"/>
            <a:ext cx="699655" cy="699655"/>
            <a:chOff x="0" y="0"/>
            <a:chExt cx="812800" cy="812800"/>
          </a:xfrm>
        </p:grpSpPr>
        <p:sp>
          <p:nvSpPr>
            <p:cNvPr id="113" name="Google Shape;113;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2"/>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5" name="Google Shape;115;p2"/>
          <p:cNvSpPr txBox="1"/>
          <p:nvPr/>
        </p:nvSpPr>
        <p:spPr>
          <a:xfrm>
            <a:off x="8114276" y="7461738"/>
            <a:ext cx="780254" cy="51026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3</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16" name="Google Shape;116;p2"/>
          <p:cNvSpPr/>
          <p:nvPr/>
        </p:nvSpPr>
        <p:spPr>
          <a:xfrm>
            <a:off x="892967" y="3107900"/>
            <a:ext cx="6017177" cy="5929335"/>
          </a:xfrm>
          <a:custGeom>
            <a:avLst/>
            <a:gdLst/>
            <a:ahLst/>
            <a:cxnLst/>
            <a:rect l="l" t="t" r="r" b="b"/>
            <a:pathLst>
              <a:path w="6017177" h="5929335" extrusionOk="0">
                <a:moveTo>
                  <a:pt x="0" y="0"/>
                </a:moveTo>
                <a:lnTo>
                  <a:pt x="6017178" y="0"/>
                </a:lnTo>
                <a:lnTo>
                  <a:pt x="6017178" y="5929335"/>
                </a:lnTo>
                <a:lnTo>
                  <a:pt x="0" y="5929335"/>
                </a:lnTo>
                <a:lnTo>
                  <a:pt x="0" y="0"/>
                </a:lnTo>
                <a:close/>
              </a:path>
            </a:pathLst>
          </a:custGeom>
          <a:blipFill rotWithShape="1">
            <a:blip r:embed="rId2"/>
            <a:stretch>
              <a:fillRect/>
            </a:stretch>
          </a:blipFill>
          <a:ln>
            <a:noFill/>
          </a:ln>
        </p:spPr>
      </p:sp>
      <p:sp>
        <p:nvSpPr>
          <p:cNvPr id="117" name="Google Shape;117;p2"/>
          <p:cNvSpPr/>
          <p:nvPr/>
        </p:nvSpPr>
        <p:spPr>
          <a:xfrm>
            <a:off x="1173847" y="2108306"/>
            <a:ext cx="5197598" cy="6079062"/>
          </a:xfrm>
          <a:custGeom>
            <a:avLst/>
            <a:gdLst/>
            <a:ahLst/>
            <a:cxnLst/>
            <a:rect l="l" t="t" r="r" b="b"/>
            <a:pathLst>
              <a:path w="5197598" h="6079062" extrusionOk="0">
                <a:moveTo>
                  <a:pt x="0" y="0"/>
                </a:moveTo>
                <a:lnTo>
                  <a:pt x="5197599" y="0"/>
                </a:lnTo>
                <a:lnTo>
                  <a:pt x="5197599" y="6079062"/>
                </a:lnTo>
                <a:lnTo>
                  <a:pt x="0" y="6079062"/>
                </a:lnTo>
                <a:lnTo>
                  <a:pt x="0" y="0"/>
                </a:lnTo>
                <a:close/>
              </a:path>
            </a:pathLst>
          </a:custGeom>
          <a:blipFill rotWithShape="1">
            <a:blip r:embed="rId3"/>
            <a:stretch>
              <a:fillRect/>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23" name="Google Shape;123;p3"/>
          <p:cNvSpPr/>
          <p:nvPr/>
        </p:nvSpPr>
        <p:spPr>
          <a:xfrm>
            <a:off x="-2949614" y="6446736"/>
            <a:ext cx="4782302" cy="4712487"/>
          </a:xfrm>
          <a:custGeom>
            <a:avLst/>
            <a:gdLst/>
            <a:ahLst/>
            <a:cxnLst/>
            <a:rect l="l" t="t" r="r" b="b"/>
            <a:pathLst>
              <a:path w="4782302" h="4712487" extrusionOk="0">
                <a:moveTo>
                  <a:pt x="0" y="0"/>
                </a:moveTo>
                <a:lnTo>
                  <a:pt x="4782302" y="0"/>
                </a:lnTo>
                <a:lnTo>
                  <a:pt x="4782302" y="4712488"/>
                </a:lnTo>
                <a:lnTo>
                  <a:pt x="0" y="4712488"/>
                </a:lnTo>
                <a:lnTo>
                  <a:pt x="0" y="0"/>
                </a:lnTo>
                <a:close/>
              </a:path>
            </a:pathLst>
          </a:custGeom>
          <a:blipFill rotWithShape="1">
            <a:blip r:embed="rId2"/>
            <a:stretch>
              <a:fillRect/>
            </a:stretch>
          </a:blipFill>
          <a:ln>
            <a:noFill/>
          </a:ln>
        </p:spPr>
      </p:sp>
      <p:sp>
        <p:nvSpPr>
          <p:cNvPr id="124" name="Google Shape;124;p3"/>
          <p:cNvSpPr/>
          <p:nvPr/>
        </p:nvSpPr>
        <p:spPr>
          <a:xfrm>
            <a:off x="2547830" y="3158328"/>
            <a:ext cx="4884089" cy="4785545"/>
          </a:xfrm>
          <a:custGeom>
            <a:avLst/>
            <a:gdLst/>
            <a:ahLst/>
            <a:cxnLst/>
            <a:rect l="l" t="t" r="r" b="b"/>
            <a:pathLst>
              <a:path w="4884089" h="4785545" extrusionOk="0">
                <a:moveTo>
                  <a:pt x="0" y="0"/>
                </a:moveTo>
                <a:lnTo>
                  <a:pt x="4884090" y="0"/>
                </a:lnTo>
                <a:lnTo>
                  <a:pt x="4884090" y="4785545"/>
                </a:lnTo>
                <a:lnTo>
                  <a:pt x="0" y="4785545"/>
                </a:lnTo>
                <a:lnTo>
                  <a:pt x="0" y="0"/>
                </a:lnTo>
                <a:close/>
              </a:path>
            </a:pathLst>
          </a:custGeom>
          <a:blipFill rotWithShape="1">
            <a:blip r:embed="rId3"/>
            <a:stretch>
              <a:fillRect/>
            </a:stretch>
          </a:blipFill>
          <a:ln>
            <a:noFill/>
          </a:ln>
        </p:spPr>
      </p:sp>
      <p:grpSp>
        <p:nvGrpSpPr>
          <p:cNvPr id="125" name="Google Shape;125;p3"/>
          <p:cNvGrpSpPr/>
          <p:nvPr/>
        </p:nvGrpSpPr>
        <p:grpSpPr>
          <a:xfrm>
            <a:off x="7937975" y="1950978"/>
            <a:ext cx="8528874" cy="7298502"/>
            <a:chOff x="0" y="-57150"/>
            <a:chExt cx="2246273" cy="1657658"/>
          </a:xfrm>
        </p:grpSpPr>
        <p:sp>
          <p:nvSpPr>
            <p:cNvPr id="126" name="Google Shape;126;p3"/>
            <p:cNvSpPr/>
            <p:nvPr/>
          </p:nvSpPr>
          <p:spPr>
            <a:xfrm>
              <a:off x="0" y="0"/>
              <a:ext cx="2246273" cy="1600508"/>
            </a:xfrm>
            <a:custGeom>
              <a:avLst/>
              <a:gdLst/>
              <a:ahLst/>
              <a:cxnLst/>
              <a:rect l="l" t="t" r="r" b="b"/>
              <a:pathLst>
                <a:path w="2246273" h="1600508" extrusionOk="0">
                  <a:moveTo>
                    <a:pt x="46295" y="0"/>
                  </a:moveTo>
                  <a:lnTo>
                    <a:pt x="2199978" y="0"/>
                  </a:lnTo>
                  <a:cubicBezTo>
                    <a:pt x="2212256" y="0"/>
                    <a:pt x="2224031" y="4877"/>
                    <a:pt x="2232713" y="13559"/>
                  </a:cubicBezTo>
                  <a:cubicBezTo>
                    <a:pt x="2241395" y="22241"/>
                    <a:pt x="2246273" y="34016"/>
                    <a:pt x="2246273" y="46295"/>
                  </a:cubicBezTo>
                  <a:lnTo>
                    <a:pt x="2246273" y="1554213"/>
                  </a:lnTo>
                  <a:cubicBezTo>
                    <a:pt x="2246273" y="1566491"/>
                    <a:pt x="2241395" y="1578266"/>
                    <a:pt x="2232713" y="1586948"/>
                  </a:cubicBezTo>
                  <a:cubicBezTo>
                    <a:pt x="2224031" y="1595630"/>
                    <a:pt x="2212256" y="1600508"/>
                    <a:pt x="2199978" y="1600508"/>
                  </a:cubicBezTo>
                  <a:lnTo>
                    <a:pt x="46295" y="1600508"/>
                  </a:lnTo>
                  <a:cubicBezTo>
                    <a:pt x="20727" y="1600508"/>
                    <a:pt x="0" y="1579781"/>
                    <a:pt x="0" y="1554213"/>
                  </a:cubicBezTo>
                  <a:lnTo>
                    <a:pt x="0" y="46295"/>
                  </a:lnTo>
                  <a:cubicBezTo>
                    <a:pt x="0" y="34016"/>
                    <a:pt x="4877" y="22241"/>
                    <a:pt x="13559" y="13559"/>
                  </a:cubicBezTo>
                  <a:cubicBezTo>
                    <a:pt x="22241" y="4877"/>
                    <a:pt x="34016" y="0"/>
                    <a:pt x="46295"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3"/>
            <p:cNvSpPr txBox="1"/>
            <p:nvPr/>
          </p:nvSpPr>
          <p:spPr>
            <a:xfrm>
              <a:off x="0" y="-57150"/>
              <a:ext cx="2246272" cy="1657658"/>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8" name="Google Shape;128;p3"/>
          <p:cNvSpPr txBox="1"/>
          <p:nvPr/>
        </p:nvSpPr>
        <p:spPr>
          <a:xfrm>
            <a:off x="8757764" y="2742364"/>
            <a:ext cx="7974900" cy="2078100"/>
          </a:xfrm>
          <a:prstGeom prst="rect">
            <a:avLst/>
          </a:prstGeom>
          <a:noFill/>
          <a:ln>
            <a:noFill/>
          </a:ln>
        </p:spPr>
        <p:txBody>
          <a:bodyPr spcFirstLastPara="1" wrap="square" lIns="0" tIns="0" rIns="0" bIns="0" anchor="t" anchorCtr="0">
            <a:spAutoFit/>
          </a:bodyPr>
          <a:lstStyle/>
          <a:p>
            <a:pPr marL="0" marR="0" lvl="0" indent="0" algn="l" rtl="0">
              <a:lnSpc>
                <a:spcPct val="99000"/>
              </a:lnSpc>
              <a:spcBef>
                <a:spcPts val="0"/>
              </a:spcBef>
              <a:spcAft>
                <a:spcPts val="0"/>
              </a:spcAft>
              <a:buNone/>
            </a:pPr>
            <a:r>
              <a:rPr lang="en-US" sz="6820" b="0" i="0" u="none" strike="noStrike" cap="none">
                <a:solidFill>
                  <a:srgbClr val="CD4146"/>
                </a:solidFill>
                <a:latin typeface="Oswald"/>
                <a:ea typeface="Oswald"/>
                <a:cs typeface="Oswald"/>
                <a:sym typeface="Oswald"/>
              </a:rPr>
              <a:t>introduction</a:t>
            </a:r>
            <a:endParaRPr sz="6820" b="0" i="0" u="none" strike="noStrike" cap="none">
              <a:solidFill>
                <a:srgbClr val="CD4146"/>
              </a:solidFill>
              <a:latin typeface="Oswald"/>
              <a:ea typeface="Oswald"/>
              <a:cs typeface="Oswald"/>
              <a:sym typeface="Oswald"/>
            </a:endParaRPr>
          </a:p>
          <a:p>
            <a:pPr marL="0" marR="0" lvl="0" indent="0" algn="l" rtl="0">
              <a:lnSpc>
                <a:spcPct val="99000"/>
              </a:lnSpc>
              <a:spcBef>
                <a:spcPts val="0"/>
              </a:spcBef>
              <a:spcAft>
                <a:spcPts val="0"/>
              </a:spcAft>
              <a:buNone/>
            </a:pPr>
            <a:endParaRPr sz="6820" b="0" i="0" u="none" strike="noStrike" cap="none">
              <a:solidFill>
                <a:srgbClr val="CD4146"/>
              </a:solidFill>
              <a:latin typeface="Oswald"/>
              <a:ea typeface="Oswald"/>
              <a:cs typeface="Oswald"/>
              <a:sym typeface="Oswald"/>
            </a:endParaRPr>
          </a:p>
        </p:txBody>
      </p:sp>
      <p:sp>
        <p:nvSpPr>
          <p:cNvPr id="129" name="Google Shape;129;p3"/>
          <p:cNvSpPr txBox="1"/>
          <p:nvPr/>
        </p:nvSpPr>
        <p:spPr>
          <a:xfrm>
            <a:off x="8678925" y="4039901"/>
            <a:ext cx="6652800" cy="4848600"/>
          </a:xfrm>
          <a:prstGeom prst="rect">
            <a:avLst/>
          </a:prstGeom>
          <a:noFill/>
          <a:ln>
            <a:noFill/>
          </a:ln>
        </p:spPr>
        <p:txBody>
          <a:bodyPr spcFirstLastPara="1" wrap="square" lIns="0" tIns="0" rIns="0" bIns="0" anchor="t" anchorCtr="0">
            <a:spAutoFit/>
          </a:bodyPr>
          <a:lstStyle/>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Problem Background</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 House price prediction is important for buyers, sellers, and investors</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a:solidFill>
                  <a:srgbClr val="CD4146"/>
                </a:solidFill>
                <a:latin typeface="Poppins" panose="00000500000000000000"/>
                <a:ea typeface="Poppins" panose="00000500000000000000"/>
                <a:cs typeface="Poppins" panose="00000500000000000000"/>
                <a:sym typeface="Poppins" panose="00000500000000000000"/>
              </a:rPr>
              <a:t>• Traditional methods rely on experience and are less accurate </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Our Approach</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 Use machine learning models to predict house prices</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a:solidFill>
                  <a:srgbClr val="CD4146"/>
                </a:solidFill>
                <a:latin typeface="Poppins" panose="00000500000000000000"/>
                <a:ea typeface="Poppins" panose="00000500000000000000"/>
                <a:cs typeface="Poppins" panose="00000500000000000000"/>
                <a:sym typeface="Poppins" panose="00000500000000000000"/>
              </a:rPr>
              <a:t>• Analyse historical housing data to improve accuracy </a:t>
            </a: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130" name="Google Shape;130;p3"/>
          <p:cNvSpPr/>
          <p:nvPr/>
        </p:nvSpPr>
        <p:spPr>
          <a:xfrm>
            <a:off x="14868149" y="-2964719"/>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2"/>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36" name="Google Shape;136;p4"/>
          <p:cNvSpPr/>
          <p:nvPr/>
        </p:nvSpPr>
        <p:spPr>
          <a:xfrm>
            <a:off x="15005339" y="6293632"/>
            <a:ext cx="6017177" cy="5929335"/>
          </a:xfrm>
          <a:custGeom>
            <a:avLst/>
            <a:gdLst/>
            <a:ahLst/>
            <a:cxnLst/>
            <a:rect l="l" t="t" r="r" b="b"/>
            <a:pathLst>
              <a:path w="6017177" h="5929335" extrusionOk="0">
                <a:moveTo>
                  <a:pt x="0" y="0"/>
                </a:moveTo>
                <a:lnTo>
                  <a:pt x="6017177" y="0"/>
                </a:lnTo>
                <a:lnTo>
                  <a:pt x="6017177" y="5929336"/>
                </a:lnTo>
                <a:lnTo>
                  <a:pt x="0" y="5929336"/>
                </a:lnTo>
                <a:lnTo>
                  <a:pt x="0" y="0"/>
                </a:lnTo>
                <a:close/>
              </a:path>
            </a:pathLst>
          </a:custGeom>
          <a:blipFill rotWithShape="1">
            <a:blip r:embed="rId2"/>
            <a:stretch>
              <a:fillRect/>
            </a:stretch>
          </a:blipFill>
          <a:ln>
            <a:noFill/>
          </a:ln>
        </p:spPr>
      </p:sp>
      <p:sp>
        <p:nvSpPr>
          <p:cNvPr id="137" name="Google Shape;137;p4"/>
          <p:cNvSpPr/>
          <p:nvPr/>
        </p:nvSpPr>
        <p:spPr>
          <a:xfrm>
            <a:off x="-1861792" y="-1069654"/>
            <a:ext cx="4258882" cy="4196709"/>
          </a:xfrm>
          <a:custGeom>
            <a:avLst/>
            <a:gdLst/>
            <a:ahLst/>
            <a:cxnLst/>
            <a:rect l="l" t="t" r="r" b="b"/>
            <a:pathLst>
              <a:path w="4258882" h="4196709" extrusionOk="0">
                <a:moveTo>
                  <a:pt x="0" y="0"/>
                </a:moveTo>
                <a:lnTo>
                  <a:pt x="4258883" y="0"/>
                </a:lnTo>
                <a:lnTo>
                  <a:pt x="4258883" y="4196708"/>
                </a:lnTo>
                <a:lnTo>
                  <a:pt x="0" y="4196708"/>
                </a:lnTo>
                <a:lnTo>
                  <a:pt x="0" y="0"/>
                </a:lnTo>
                <a:close/>
              </a:path>
            </a:pathLst>
          </a:custGeom>
          <a:blipFill rotWithShape="1">
            <a:blip r:embed="rId2"/>
            <a:stretch>
              <a:fillRect/>
            </a:stretch>
          </a:blipFill>
          <a:ln>
            <a:noFill/>
          </a:ln>
        </p:spPr>
      </p:sp>
      <p:grpSp>
        <p:nvGrpSpPr>
          <p:cNvPr id="138" name="Google Shape;138;p4"/>
          <p:cNvGrpSpPr/>
          <p:nvPr/>
        </p:nvGrpSpPr>
        <p:grpSpPr>
          <a:xfrm>
            <a:off x="568345" y="965714"/>
            <a:ext cx="17151310" cy="8138581"/>
            <a:chOff x="0" y="-57150"/>
            <a:chExt cx="4517218" cy="2143495"/>
          </a:xfrm>
        </p:grpSpPr>
        <p:sp>
          <p:nvSpPr>
            <p:cNvPr id="139" name="Google Shape;139;p4"/>
            <p:cNvSpPr/>
            <p:nvPr/>
          </p:nvSpPr>
          <p:spPr>
            <a:xfrm>
              <a:off x="0" y="0"/>
              <a:ext cx="4517218" cy="2086345"/>
            </a:xfrm>
            <a:custGeom>
              <a:avLst/>
              <a:gdLst/>
              <a:ahLst/>
              <a:cxnLst/>
              <a:rect l="l" t="t" r="r" b="b"/>
              <a:pathLst>
                <a:path w="4517218" h="2086345" extrusionOk="0">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4"/>
            <p:cNvSpPr txBox="1"/>
            <p:nvPr/>
          </p:nvSpPr>
          <p:spPr>
            <a:xfrm>
              <a:off x="0" y="-57150"/>
              <a:ext cx="4517218" cy="2143495"/>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1" name="Google Shape;141;p4"/>
          <p:cNvSpPr txBox="1"/>
          <p:nvPr/>
        </p:nvSpPr>
        <p:spPr>
          <a:xfrm>
            <a:off x="4295549" y="1731724"/>
            <a:ext cx="9696902" cy="116996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815" b="0" i="0" u="none" strike="noStrike" cap="none">
                <a:solidFill>
                  <a:srgbClr val="CD4146"/>
                </a:solidFill>
                <a:latin typeface="Oswald"/>
                <a:ea typeface="Oswald"/>
                <a:cs typeface="Oswald"/>
                <a:sym typeface="Oswald"/>
              </a:rPr>
              <a:t>Objective</a:t>
            </a:r>
            <a:endParaRPr sz="6815" b="0" i="0" u="none" strike="noStrike" cap="none">
              <a:solidFill>
                <a:srgbClr val="CD4146"/>
              </a:solidFill>
              <a:latin typeface="Oswald"/>
              <a:ea typeface="Oswald"/>
              <a:cs typeface="Oswald"/>
              <a:sym typeface="Oswald"/>
            </a:endParaRPr>
          </a:p>
        </p:txBody>
      </p:sp>
      <p:sp>
        <p:nvSpPr>
          <p:cNvPr id="142" name="Google Shape;142;p4"/>
          <p:cNvSpPr txBox="1"/>
          <p:nvPr/>
        </p:nvSpPr>
        <p:spPr>
          <a:xfrm>
            <a:off x="1190275" y="3619700"/>
            <a:ext cx="15422700" cy="3491100"/>
          </a:xfrm>
          <a:prstGeom prst="rect">
            <a:avLst/>
          </a:prstGeom>
          <a:noFill/>
          <a:ln>
            <a:noFill/>
          </a:ln>
        </p:spPr>
        <p:txBody>
          <a:bodyPr spcFirstLastPara="1" wrap="square" lIns="0" tIns="0" rIns="0" bIns="0" anchor="t" anchorCtr="0">
            <a:spAutoFit/>
          </a:bodyPr>
          <a:lstStyle/>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 To build and compare three machine learning models (Random Forest, XGBoost, and Linear Regression) for house price prediction, in order to identify the most accurate and suitable model.</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r>
              <a:rPr lang="en-US" sz="2100">
                <a:solidFill>
                  <a:srgbClr val="CD4146"/>
                </a:solidFill>
                <a:latin typeface="Poppins" panose="00000500000000000000"/>
                <a:ea typeface="Poppins" panose="00000500000000000000"/>
                <a:cs typeface="Poppins" panose="00000500000000000000"/>
                <a:sym typeface="Poppins" panose="00000500000000000000"/>
              </a:rPr>
              <a:t>• To evaluate model performance using multiple metrics such as R², MAE, RMSE, and MAPE, and analyse the strengths and limitations of each approach.</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lvl="0" indent="0" algn="just" rtl="0">
              <a:lnSpc>
                <a:spcPct val="140000"/>
              </a:lnSpc>
              <a:spcBef>
                <a:spcPts val="0"/>
              </a:spcBef>
              <a:spcAft>
                <a:spcPts val="0"/>
              </a:spcAft>
              <a:buClr>
                <a:schemeClr val="dk1"/>
              </a:buClr>
              <a:buSzPts val="1100"/>
              <a:buFont typeface="Arial" panose="020B0704020202020204"/>
              <a:buNone/>
            </a:pP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100">
                <a:solidFill>
                  <a:srgbClr val="CD4146"/>
                </a:solidFill>
                <a:latin typeface="Poppins" panose="00000500000000000000"/>
                <a:ea typeface="Poppins" panose="00000500000000000000"/>
                <a:cs typeface="Poppins" panose="00000500000000000000"/>
                <a:sym typeface="Poppins" panose="00000500000000000000"/>
              </a:rPr>
              <a:t>• To provide meaningful insights into how different features influence house prices, and support better decision-making in real-world scenarios. </a:t>
            </a:r>
            <a:r>
              <a:rPr lang="en-US" sz="2100">
                <a:solidFill>
                  <a:srgbClr val="CD4146"/>
                </a:solidFill>
                <a:latin typeface="Poppins" panose="00000500000000000000"/>
                <a:ea typeface="Poppins" panose="00000500000000000000"/>
                <a:cs typeface="Poppins" panose="00000500000000000000"/>
                <a:sym typeface="Poppins" panose="00000500000000000000"/>
              </a:rPr>
              <a:t> </a:t>
            </a: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46" name="Shape 146"/>
        <p:cNvGrpSpPr/>
        <p:nvPr/>
      </p:nvGrpSpPr>
      <p:grpSpPr>
        <a:xfrm>
          <a:off x="0" y="0"/>
          <a:ext cx="0" cy="0"/>
          <a:chOff x="0" y="0"/>
          <a:chExt cx="0" cy="0"/>
        </a:xfrm>
      </p:grpSpPr>
      <p:sp>
        <p:nvSpPr>
          <p:cNvPr id="147" name="Google Shape;147;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48" name="Google Shape;148;p5"/>
          <p:cNvSpPr/>
          <p:nvPr/>
        </p:nvSpPr>
        <p:spPr>
          <a:xfrm>
            <a:off x="10551039" y="3674172"/>
            <a:ext cx="5970064" cy="4701425"/>
          </a:xfrm>
          <a:custGeom>
            <a:avLst/>
            <a:gdLst/>
            <a:ahLst/>
            <a:cxnLst/>
            <a:rect l="l" t="t" r="r" b="b"/>
            <a:pathLst>
              <a:path w="5970064" h="4701425" extrusionOk="0">
                <a:moveTo>
                  <a:pt x="0" y="0"/>
                </a:moveTo>
                <a:lnTo>
                  <a:pt x="5970064" y="0"/>
                </a:lnTo>
                <a:lnTo>
                  <a:pt x="5970064" y="4701425"/>
                </a:lnTo>
                <a:lnTo>
                  <a:pt x="0" y="4701425"/>
                </a:lnTo>
                <a:lnTo>
                  <a:pt x="0" y="0"/>
                </a:lnTo>
                <a:close/>
              </a:path>
            </a:pathLst>
          </a:custGeom>
          <a:blipFill rotWithShape="1">
            <a:blip r:embed="rId2"/>
            <a:stretch>
              <a:fillRect/>
            </a:stretch>
          </a:blipFill>
          <a:ln>
            <a:noFill/>
          </a:ln>
        </p:spPr>
      </p:sp>
      <p:grpSp>
        <p:nvGrpSpPr>
          <p:cNvPr id="149" name="Google Shape;149;p5"/>
          <p:cNvGrpSpPr/>
          <p:nvPr/>
        </p:nvGrpSpPr>
        <p:grpSpPr>
          <a:xfrm>
            <a:off x="1244418" y="3044851"/>
            <a:ext cx="9080242" cy="2617746"/>
            <a:chOff x="0" y="-57150"/>
            <a:chExt cx="2391504" cy="689448"/>
          </a:xfrm>
        </p:grpSpPr>
        <p:sp>
          <p:nvSpPr>
            <p:cNvPr id="150" name="Google Shape;150;p5"/>
            <p:cNvSpPr/>
            <p:nvPr/>
          </p:nvSpPr>
          <p:spPr>
            <a:xfrm>
              <a:off x="0" y="0"/>
              <a:ext cx="2391504" cy="632298"/>
            </a:xfrm>
            <a:custGeom>
              <a:avLst/>
              <a:gdLst/>
              <a:ahLst/>
              <a:cxnLst/>
              <a:rect l="l" t="t" r="r" b="b"/>
              <a:pathLst>
                <a:path w="2391504" h="632298" extrusionOk="0">
                  <a:moveTo>
                    <a:pt x="28989" y="0"/>
                  </a:moveTo>
                  <a:lnTo>
                    <a:pt x="2362515" y="0"/>
                  </a:lnTo>
                  <a:cubicBezTo>
                    <a:pt x="2378525" y="0"/>
                    <a:pt x="2391504" y="12979"/>
                    <a:pt x="2391504" y="28989"/>
                  </a:cubicBezTo>
                  <a:lnTo>
                    <a:pt x="2391504" y="603309"/>
                  </a:lnTo>
                  <a:cubicBezTo>
                    <a:pt x="2391504" y="610997"/>
                    <a:pt x="2388450" y="618371"/>
                    <a:pt x="2383013" y="623807"/>
                  </a:cubicBezTo>
                  <a:cubicBezTo>
                    <a:pt x="2377577" y="629243"/>
                    <a:pt x="2370204" y="632298"/>
                    <a:pt x="2362515" y="632298"/>
                  </a:cubicBezTo>
                  <a:lnTo>
                    <a:pt x="28989" y="632298"/>
                  </a:lnTo>
                  <a:cubicBezTo>
                    <a:pt x="21300" y="632298"/>
                    <a:pt x="13927" y="629243"/>
                    <a:pt x="8491" y="623807"/>
                  </a:cubicBezTo>
                  <a:cubicBezTo>
                    <a:pt x="3054" y="618371"/>
                    <a:pt x="0" y="610997"/>
                    <a:pt x="0" y="603309"/>
                  </a:cubicBezTo>
                  <a:lnTo>
                    <a:pt x="0" y="28989"/>
                  </a:lnTo>
                  <a:cubicBezTo>
                    <a:pt x="0" y="21300"/>
                    <a:pt x="3054" y="13927"/>
                    <a:pt x="8491" y="8491"/>
                  </a:cubicBezTo>
                  <a:cubicBezTo>
                    <a:pt x="13927" y="3054"/>
                    <a:pt x="21300" y="0"/>
                    <a:pt x="28989"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5"/>
            <p:cNvSpPr txBox="1"/>
            <p:nvPr/>
          </p:nvSpPr>
          <p:spPr>
            <a:xfrm>
              <a:off x="0" y="-57150"/>
              <a:ext cx="2391504" cy="689448"/>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2" name="Google Shape;152;p5"/>
          <p:cNvSpPr/>
          <p:nvPr/>
        </p:nvSpPr>
        <p:spPr>
          <a:xfrm>
            <a:off x="1402715" y="3822016"/>
            <a:ext cx="1481283" cy="1552479"/>
          </a:xfrm>
          <a:custGeom>
            <a:avLst/>
            <a:gdLst/>
            <a:ahLst/>
            <a:cxnLst/>
            <a:rect l="l" t="t" r="r" b="b"/>
            <a:pathLst>
              <a:path w="1481283" h="1552479" extrusionOk="0">
                <a:moveTo>
                  <a:pt x="0" y="0"/>
                </a:moveTo>
                <a:lnTo>
                  <a:pt x="1481283" y="0"/>
                </a:lnTo>
                <a:lnTo>
                  <a:pt x="1481283" y="1552479"/>
                </a:lnTo>
                <a:lnTo>
                  <a:pt x="0" y="1552479"/>
                </a:lnTo>
                <a:lnTo>
                  <a:pt x="0" y="0"/>
                </a:lnTo>
                <a:close/>
              </a:path>
            </a:pathLst>
          </a:custGeom>
          <a:blipFill rotWithShape="1">
            <a:blip r:embed="rId3"/>
            <a:stretch>
              <a:fillRect/>
            </a:stretch>
          </a:blipFill>
          <a:ln>
            <a:noFill/>
          </a:ln>
        </p:spPr>
      </p:sp>
      <p:sp>
        <p:nvSpPr>
          <p:cNvPr id="153" name="Google Shape;153;p5"/>
          <p:cNvSpPr/>
          <p:nvPr/>
        </p:nvSpPr>
        <p:spPr>
          <a:xfrm>
            <a:off x="-2542620" y="8101649"/>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grpSp>
        <p:nvGrpSpPr>
          <p:cNvPr id="154" name="Google Shape;154;p5"/>
          <p:cNvGrpSpPr/>
          <p:nvPr/>
        </p:nvGrpSpPr>
        <p:grpSpPr>
          <a:xfrm>
            <a:off x="1244425" y="5782274"/>
            <a:ext cx="9080302" cy="3479782"/>
            <a:chOff x="0" y="-57150"/>
            <a:chExt cx="2391504" cy="689448"/>
          </a:xfrm>
        </p:grpSpPr>
        <p:sp>
          <p:nvSpPr>
            <p:cNvPr id="155" name="Google Shape;155;p5"/>
            <p:cNvSpPr/>
            <p:nvPr/>
          </p:nvSpPr>
          <p:spPr>
            <a:xfrm>
              <a:off x="0" y="0"/>
              <a:ext cx="2391504" cy="632298"/>
            </a:xfrm>
            <a:custGeom>
              <a:avLst/>
              <a:gdLst/>
              <a:ahLst/>
              <a:cxnLst/>
              <a:rect l="l" t="t" r="r" b="b"/>
              <a:pathLst>
                <a:path w="2391504" h="632298" extrusionOk="0">
                  <a:moveTo>
                    <a:pt x="28989" y="0"/>
                  </a:moveTo>
                  <a:lnTo>
                    <a:pt x="2362515" y="0"/>
                  </a:lnTo>
                  <a:cubicBezTo>
                    <a:pt x="2378525" y="0"/>
                    <a:pt x="2391504" y="12979"/>
                    <a:pt x="2391504" y="28989"/>
                  </a:cubicBezTo>
                  <a:lnTo>
                    <a:pt x="2391504" y="603309"/>
                  </a:lnTo>
                  <a:cubicBezTo>
                    <a:pt x="2391504" y="610997"/>
                    <a:pt x="2388450" y="618371"/>
                    <a:pt x="2383013" y="623807"/>
                  </a:cubicBezTo>
                  <a:cubicBezTo>
                    <a:pt x="2377577" y="629243"/>
                    <a:pt x="2370204" y="632298"/>
                    <a:pt x="2362515" y="632298"/>
                  </a:cubicBezTo>
                  <a:lnTo>
                    <a:pt x="28989" y="632298"/>
                  </a:lnTo>
                  <a:cubicBezTo>
                    <a:pt x="21300" y="632298"/>
                    <a:pt x="13927" y="629243"/>
                    <a:pt x="8491" y="623807"/>
                  </a:cubicBezTo>
                  <a:cubicBezTo>
                    <a:pt x="3054" y="618371"/>
                    <a:pt x="0" y="610997"/>
                    <a:pt x="0" y="603309"/>
                  </a:cubicBezTo>
                  <a:lnTo>
                    <a:pt x="0" y="28989"/>
                  </a:lnTo>
                  <a:cubicBezTo>
                    <a:pt x="0" y="21300"/>
                    <a:pt x="3054" y="13927"/>
                    <a:pt x="8491" y="8491"/>
                  </a:cubicBezTo>
                  <a:cubicBezTo>
                    <a:pt x="13927" y="3054"/>
                    <a:pt x="21300" y="0"/>
                    <a:pt x="28989" y="0"/>
                  </a:cubicBezTo>
                  <a:close/>
                </a:path>
              </a:pathLst>
            </a:custGeom>
            <a:noFill/>
            <a:ln w="25325" cap="rnd" cmpd="sng">
              <a:solidFill>
                <a:srgbClr val="CD4146"/>
              </a:solidFill>
              <a:prstDash val="solid"/>
              <a:round/>
              <a:headEnd type="none" w="sm" len="sm"/>
              <a:tailEnd type="none" w="sm" len="sm"/>
            </a:ln>
          </p:spPr>
          <p:txBody>
            <a:bodyPr spcFirstLastPara="1" wrap="square" lIns="121525" tIns="121525" rIns="121525" bIns="121525" anchor="ctr" anchorCtr="0">
              <a:noAutofit/>
            </a:bodyPr>
            <a:lstStyle/>
            <a:p>
              <a:pPr marL="0" lvl="0" indent="0" algn="l" rtl="0">
                <a:spcBef>
                  <a:spcPts val="0"/>
                </a:spcBef>
                <a:spcAft>
                  <a:spcPts val="0"/>
                </a:spcAft>
                <a:buNone/>
              </a:pPr>
            </a:p>
          </p:txBody>
        </p:sp>
        <p:sp>
          <p:nvSpPr>
            <p:cNvPr id="156" name="Google Shape;156;p5"/>
            <p:cNvSpPr txBox="1"/>
            <p:nvPr/>
          </p:nvSpPr>
          <p:spPr>
            <a:xfrm>
              <a:off x="0" y="-57150"/>
              <a:ext cx="2391504" cy="689448"/>
            </a:xfrm>
            <a:prstGeom prst="rect">
              <a:avLst/>
            </a:prstGeom>
            <a:noFill/>
            <a:ln>
              <a:noFill/>
            </a:ln>
          </p:spPr>
          <p:txBody>
            <a:bodyPr spcFirstLastPara="1" wrap="square" lIns="67525" tIns="67525" rIns="67525" bIns="67525" anchor="ctr" anchorCtr="0">
              <a:noAutofit/>
            </a:bodyPr>
            <a:lstStyle/>
            <a:p>
              <a:pPr marL="0" marR="0" lvl="0" indent="0" algn="ctr" rtl="0">
                <a:lnSpc>
                  <a:spcPct val="163000"/>
                </a:lnSpc>
                <a:spcBef>
                  <a:spcPts val="0"/>
                </a:spcBef>
                <a:spcAft>
                  <a:spcPts val="0"/>
                </a:spcAft>
                <a:buNone/>
              </a:pPr>
              <a:endParaRPr sz="2395" b="0" i="0" u="none" strike="noStrike" cap="none">
                <a:solidFill>
                  <a:schemeClr val="dk1"/>
                </a:solidFill>
                <a:latin typeface="Calibri"/>
                <a:ea typeface="Calibri"/>
                <a:cs typeface="Calibri"/>
                <a:sym typeface="Calibri"/>
              </a:endParaRPr>
            </a:p>
          </p:txBody>
        </p:sp>
      </p:grpSp>
      <p:sp>
        <p:nvSpPr>
          <p:cNvPr id="157" name="Google Shape;157;p5"/>
          <p:cNvSpPr txBox="1"/>
          <p:nvPr/>
        </p:nvSpPr>
        <p:spPr>
          <a:xfrm>
            <a:off x="1715135" y="869950"/>
            <a:ext cx="14585950" cy="1468755"/>
          </a:xfrm>
          <a:prstGeom prst="rect">
            <a:avLst/>
          </a:prstGeom>
          <a:noFill/>
          <a:ln>
            <a:noFill/>
          </a:ln>
        </p:spPr>
        <p:txBody>
          <a:bodyPr spcFirstLastPara="1" wrap="square" lIns="0" tIns="0" rIns="0" bIns="0" anchor="t" anchorCtr="0">
            <a:spAutoFit/>
          </a:bodyPr>
          <a:lstStyle/>
          <a:p>
            <a:pPr marL="0" lvl="0" indent="0" algn="ctr" rtl="0">
              <a:lnSpc>
                <a:spcPct val="140000"/>
              </a:lnSpc>
              <a:spcBef>
                <a:spcPts val="0"/>
              </a:spcBef>
              <a:spcAft>
                <a:spcPts val="0"/>
              </a:spcAft>
              <a:buNone/>
            </a:pPr>
            <a:r>
              <a:rPr lang="en-US" sz="6815">
                <a:solidFill>
                  <a:srgbClr val="CD4146"/>
                </a:solidFill>
                <a:latin typeface="Oswald"/>
                <a:ea typeface="Oswald"/>
                <a:cs typeface="Oswald"/>
                <a:sym typeface="Oswald"/>
              </a:rPr>
              <a:t>Introduction to the Random Forest </a:t>
            </a:r>
            <a:endParaRPr sz="6815">
              <a:solidFill>
                <a:srgbClr val="CD4146"/>
              </a:solidFill>
              <a:latin typeface="Oswald"/>
              <a:ea typeface="Oswald"/>
              <a:cs typeface="Oswald"/>
              <a:sym typeface="Oswald"/>
            </a:endParaRPr>
          </a:p>
        </p:txBody>
      </p:sp>
      <p:sp>
        <p:nvSpPr>
          <p:cNvPr id="158" name="Google Shape;158;p5"/>
          <p:cNvSpPr txBox="1"/>
          <p:nvPr/>
        </p:nvSpPr>
        <p:spPr>
          <a:xfrm>
            <a:off x="3300889" y="3780215"/>
            <a:ext cx="6384000" cy="8487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300" b="1">
                <a:solidFill>
                  <a:srgbClr val="980000"/>
                </a:solidFill>
              </a:rPr>
              <a:t>Random Forest is an ensemble learning algorithm based on decision trees. </a:t>
            </a:r>
            <a:endParaRPr sz="3300" b="1" i="0" u="none" strike="noStrike" cap="none">
              <a:solidFill>
                <a:srgbClr val="980000"/>
              </a:solidFill>
              <a:latin typeface="Poppins" panose="00000500000000000000"/>
              <a:ea typeface="Poppins" panose="00000500000000000000"/>
              <a:cs typeface="Poppins" panose="00000500000000000000"/>
              <a:sym typeface="Poppins" panose="00000500000000000000"/>
            </a:endParaRPr>
          </a:p>
        </p:txBody>
      </p:sp>
      <p:sp>
        <p:nvSpPr>
          <p:cNvPr id="159" name="Google Shape;159;p5"/>
          <p:cNvSpPr txBox="1"/>
          <p:nvPr/>
        </p:nvSpPr>
        <p:spPr>
          <a:xfrm>
            <a:off x="1715425" y="6240475"/>
            <a:ext cx="8517600" cy="25947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500" b="1">
                <a:solidFill>
                  <a:srgbClr val="980000"/>
                </a:solidFill>
                <a:latin typeface="Poppins" panose="00000500000000000000"/>
                <a:ea typeface="Poppins" panose="00000500000000000000"/>
                <a:cs typeface="Poppins" panose="00000500000000000000"/>
                <a:sym typeface="Poppins" panose="00000500000000000000"/>
              </a:rPr>
              <a:t>Why we use Random Forest </a:t>
            </a:r>
            <a:endParaRPr sz="2500" b="1">
              <a:solidFill>
                <a:srgbClr val="980000"/>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3100" b="1">
                <a:solidFill>
                  <a:srgbClr val="980000"/>
                </a:solidFill>
                <a:latin typeface="Poppins" panose="00000500000000000000"/>
                <a:ea typeface="Poppins" panose="00000500000000000000"/>
                <a:cs typeface="Poppins" panose="00000500000000000000"/>
                <a:sym typeface="Poppins" panose="00000500000000000000"/>
              </a:rPr>
              <a:t>1</a:t>
            </a:r>
            <a:r>
              <a:rPr lang="en-US" sz="3900" b="1">
                <a:solidFill>
                  <a:srgbClr val="980000"/>
                </a:solidFill>
                <a:latin typeface="Poppins" panose="00000500000000000000"/>
                <a:ea typeface="Poppins" panose="00000500000000000000"/>
                <a:cs typeface="Poppins" panose="00000500000000000000"/>
                <a:sym typeface="Poppins" panose="00000500000000000000"/>
              </a:rPr>
              <a:t>.</a:t>
            </a:r>
            <a:r>
              <a:rPr lang="en-US" sz="2300" b="1">
                <a:solidFill>
                  <a:srgbClr val="980000"/>
                </a:solidFill>
              </a:rPr>
              <a:t>can handle complex and nonlinear relationships. </a:t>
            </a:r>
            <a:endParaRPr sz="3300" b="1">
              <a:solidFill>
                <a:srgbClr val="980000"/>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3300" b="1">
                <a:solidFill>
                  <a:srgbClr val="980000"/>
                </a:solidFill>
                <a:latin typeface="Poppins" panose="00000500000000000000"/>
                <a:ea typeface="Poppins" panose="00000500000000000000"/>
                <a:cs typeface="Poppins" panose="00000500000000000000"/>
                <a:sym typeface="Poppins" panose="00000500000000000000"/>
              </a:rPr>
              <a:t>2.</a:t>
            </a:r>
            <a:r>
              <a:rPr lang="en-US" sz="2300" b="1">
                <a:solidFill>
                  <a:srgbClr val="980000"/>
                </a:solidFill>
              </a:rPr>
              <a:t>robust to noise and overfitting. </a:t>
            </a:r>
            <a:endParaRPr sz="3300" b="1">
              <a:solidFill>
                <a:srgbClr val="980000"/>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3300" b="1">
                <a:solidFill>
                  <a:srgbClr val="980000"/>
                </a:solidFill>
                <a:latin typeface="Poppins" panose="00000500000000000000"/>
                <a:ea typeface="Poppins" panose="00000500000000000000"/>
                <a:cs typeface="Poppins" panose="00000500000000000000"/>
                <a:sym typeface="Poppins" panose="00000500000000000000"/>
              </a:rPr>
              <a:t>3.</a:t>
            </a:r>
            <a:r>
              <a:rPr lang="en-US" sz="2300" b="1">
                <a:solidFill>
                  <a:srgbClr val="980000"/>
                </a:solidFill>
              </a:rPr>
              <a:t>works well with feature engineering and mixed data types</a:t>
            </a:r>
            <a:r>
              <a:rPr lang="en-US" sz="1500" b="1">
                <a:solidFill>
                  <a:srgbClr val="980000"/>
                </a:solidFill>
              </a:rPr>
              <a:t>. </a:t>
            </a:r>
            <a:endParaRPr sz="2500" b="1">
              <a:solidFill>
                <a:srgbClr val="980000"/>
              </a:solidFill>
              <a:latin typeface="Poppins" panose="00000500000000000000"/>
              <a:ea typeface="Poppins" panose="00000500000000000000"/>
              <a:cs typeface="Poppins" panose="00000500000000000000"/>
              <a:sym typeface="Poppins" panose="00000500000000000000"/>
            </a:endParaRPr>
          </a:p>
        </p:txBody>
      </p:sp>
      <p:sp>
        <p:nvSpPr>
          <p:cNvPr id="160" name="Google Shape;160;p5"/>
          <p:cNvSpPr/>
          <p:nvPr/>
        </p:nvSpPr>
        <p:spPr>
          <a:xfrm>
            <a:off x="16652975" y="2105976"/>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66" name="Google Shape;166;p6"/>
          <p:cNvSpPr/>
          <p:nvPr/>
        </p:nvSpPr>
        <p:spPr>
          <a:xfrm>
            <a:off x="15005339" y="6293632"/>
            <a:ext cx="6017177" cy="5929335"/>
          </a:xfrm>
          <a:custGeom>
            <a:avLst/>
            <a:gdLst/>
            <a:ahLst/>
            <a:cxnLst/>
            <a:rect l="l" t="t" r="r" b="b"/>
            <a:pathLst>
              <a:path w="6017177" h="5929335" extrusionOk="0">
                <a:moveTo>
                  <a:pt x="0" y="0"/>
                </a:moveTo>
                <a:lnTo>
                  <a:pt x="6017177" y="0"/>
                </a:lnTo>
                <a:lnTo>
                  <a:pt x="6017177" y="5929336"/>
                </a:lnTo>
                <a:lnTo>
                  <a:pt x="0" y="5929336"/>
                </a:lnTo>
                <a:lnTo>
                  <a:pt x="0" y="0"/>
                </a:lnTo>
                <a:close/>
              </a:path>
            </a:pathLst>
          </a:custGeom>
          <a:blipFill rotWithShape="1">
            <a:blip r:embed="rId2"/>
            <a:stretch>
              <a:fillRect/>
            </a:stretch>
          </a:blipFill>
          <a:ln>
            <a:noFill/>
          </a:ln>
        </p:spPr>
      </p:sp>
      <p:sp>
        <p:nvSpPr>
          <p:cNvPr id="167" name="Google Shape;167;p6"/>
          <p:cNvSpPr/>
          <p:nvPr/>
        </p:nvSpPr>
        <p:spPr>
          <a:xfrm>
            <a:off x="-1861792" y="-1069654"/>
            <a:ext cx="4258882" cy="4196709"/>
          </a:xfrm>
          <a:custGeom>
            <a:avLst/>
            <a:gdLst/>
            <a:ahLst/>
            <a:cxnLst/>
            <a:rect l="l" t="t" r="r" b="b"/>
            <a:pathLst>
              <a:path w="4258882" h="4196709" extrusionOk="0">
                <a:moveTo>
                  <a:pt x="0" y="0"/>
                </a:moveTo>
                <a:lnTo>
                  <a:pt x="4258883" y="0"/>
                </a:lnTo>
                <a:lnTo>
                  <a:pt x="4258883" y="4196708"/>
                </a:lnTo>
                <a:lnTo>
                  <a:pt x="0" y="4196708"/>
                </a:lnTo>
                <a:lnTo>
                  <a:pt x="0" y="0"/>
                </a:lnTo>
                <a:close/>
              </a:path>
            </a:pathLst>
          </a:custGeom>
          <a:blipFill rotWithShape="1">
            <a:blip r:embed="rId2"/>
            <a:stretch>
              <a:fillRect/>
            </a:stretch>
          </a:blipFill>
          <a:ln>
            <a:noFill/>
          </a:ln>
        </p:spPr>
      </p:sp>
      <p:grpSp>
        <p:nvGrpSpPr>
          <p:cNvPr id="168" name="Google Shape;168;p6"/>
          <p:cNvGrpSpPr/>
          <p:nvPr/>
        </p:nvGrpSpPr>
        <p:grpSpPr>
          <a:xfrm>
            <a:off x="568345" y="965714"/>
            <a:ext cx="17151310" cy="8138581"/>
            <a:chOff x="0" y="-57150"/>
            <a:chExt cx="4517218" cy="2143495"/>
          </a:xfrm>
        </p:grpSpPr>
        <p:sp>
          <p:nvSpPr>
            <p:cNvPr id="169" name="Google Shape;169;p6"/>
            <p:cNvSpPr/>
            <p:nvPr/>
          </p:nvSpPr>
          <p:spPr>
            <a:xfrm>
              <a:off x="0" y="0"/>
              <a:ext cx="4517218" cy="2086345"/>
            </a:xfrm>
            <a:custGeom>
              <a:avLst/>
              <a:gdLst/>
              <a:ahLst/>
              <a:cxnLst/>
              <a:rect l="l" t="t" r="r" b="b"/>
              <a:pathLst>
                <a:path w="4517218" h="2086345" extrusionOk="0">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6"/>
            <p:cNvSpPr txBox="1"/>
            <p:nvPr/>
          </p:nvSpPr>
          <p:spPr>
            <a:xfrm>
              <a:off x="0" y="-57150"/>
              <a:ext cx="4517218" cy="2143495"/>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1" name="Google Shape;171;p6"/>
          <p:cNvSpPr txBox="1"/>
          <p:nvPr/>
        </p:nvSpPr>
        <p:spPr>
          <a:xfrm>
            <a:off x="3640875" y="1627025"/>
            <a:ext cx="10718100" cy="7542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00" b="1">
                <a:solidFill>
                  <a:srgbClr val="980000"/>
                </a:solidFill>
                <a:highlight>
                  <a:srgbClr val="FFFFFF"/>
                </a:highlight>
              </a:rPr>
              <a:t>Random Forest Prediction Results</a:t>
            </a:r>
            <a:r>
              <a:rPr lang="en-US" sz="4900" b="1">
                <a:solidFill>
                  <a:srgbClr val="980000"/>
                </a:solidFill>
              </a:rPr>
              <a:t> </a:t>
            </a:r>
            <a:endParaRPr sz="4900" b="1" i="0" u="none" strike="noStrike" cap="none">
              <a:solidFill>
                <a:srgbClr val="980000"/>
              </a:solidFill>
              <a:latin typeface="Oswald"/>
              <a:ea typeface="Oswald"/>
              <a:cs typeface="Oswald"/>
              <a:sym typeface="Oswald"/>
            </a:endParaRPr>
          </a:p>
        </p:txBody>
      </p:sp>
      <p:sp>
        <p:nvSpPr>
          <p:cNvPr id="172" name="Google Shape;172;p6"/>
          <p:cNvSpPr txBox="1"/>
          <p:nvPr/>
        </p:nvSpPr>
        <p:spPr>
          <a:xfrm>
            <a:off x="2379600" y="2803325"/>
            <a:ext cx="4384800" cy="2926200"/>
          </a:xfrm>
          <a:prstGeom prst="rect">
            <a:avLst/>
          </a:prstGeom>
          <a:noFill/>
          <a:ln>
            <a:noFill/>
          </a:ln>
        </p:spPr>
        <p:txBody>
          <a:bodyPr spcFirstLastPara="1" wrap="square" lIns="0" tIns="0" rIns="0" bIns="0" anchor="t" anchorCtr="0">
            <a:spAutoFit/>
          </a:bodyPr>
          <a:lstStyle/>
          <a:p>
            <a:pPr marL="0" lvl="0" indent="0" algn="just" rtl="0">
              <a:lnSpc>
                <a:spcPct val="140000"/>
              </a:lnSpc>
              <a:spcBef>
                <a:spcPts val="0"/>
              </a:spcBef>
              <a:spcAft>
                <a:spcPts val="0"/>
              </a:spcAft>
              <a:buClr>
                <a:schemeClr val="dk1"/>
              </a:buClr>
              <a:buSzPts val="1100"/>
              <a:buFont typeface="Arial" panose="020B0704020202020204"/>
              <a:buNone/>
            </a:pPr>
            <a:r>
              <a:rPr lang="en-US" sz="2500" b="1">
                <a:solidFill>
                  <a:srgbClr val="980000"/>
                </a:solidFill>
              </a:rPr>
              <a:t>R² = 0.758</a:t>
            </a:r>
            <a:br>
              <a:rPr lang="en-US" sz="2500" b="1">
                <a:solidFill>
                  <a:srgbClr val="980000"/>
                </a:solidFill>
              </a:rPr>
            </a:br>
            <a:r>
              <a:rPr lang="en-US" sz="2500" b="1">
                <a:solidFill>
                  <a:srgbClr val="980000"/>
                </a:solidFill>
              </a:rPr>
              <a:t>MAE = $100,504.84</a:t>
            </a:r>
            <a:br>
              <a:rPr lang="en-US" sz="2500" b="1">
                <a:solidFill>
                  <a:srgbClr val="980000"/>
                </a:solidFill>
              </a:rPr>
            </a:br>
            <a:r>
              <a:rPr lang="en-US" sz="2500" b="1">
                <a:solidFill>
                  <a:srgbClr val="980000"/>
                </a:solidFill>
              </a:rPr>
              <a:t>RMSE = $201,602.08</a:t>
            </a:r>
            <a:br>
              <a:rPr lang="en-US" sz="2500" b="1">
                <a:solidFill>
                  <a:srgbClr val="980000"/>
                </a:solidFill>
              </a:rPr>
            </a:br>
            <a:r>
              <a:rPr lang="en-US" sz="2500" b="1">
                <a:solidFill>
                  <a:srgbClr val="980000"/>
                </a:solidFill>
              </a:rPr>
              <a:t>MAPE = 17.89%</a:t>
            </a:r>
            <a:br>
              <a:rPr lang="en-US" sz="2100" b="1">
                <a:solidFill>
                  <a:schemeClr val="dk1"/>
                </a:solidFill>
              </a:rPr>
            </a:br>
            <a:endParaRPr sz="2100" b="1">
              <a:solidFill>
                <a:schemeClr val="dk1"/>
              </a:solidFill>
            </a:endParaRPr>
          </a:p>
          <a:p>
            <a:pPr marL="0" marR="0" lvl="0" indent="0" algn="just" rtl="0">
              <a:lnSpc>
                <a:spcPct val="140000"/>
              </a:lnSpc>
              <a:spcBef>
                <a:spcPts val="0"/>
              </a:spcBef>
              <a:spcAft>
                <a:spcPts val="0"/>
              </a:spcAft>
              <a:buNone/>
            </a:pP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pic>
        <p:nvPicPr>
          <p:cNvPr id="173" name="Google Shape;173;p6"/>
          <p:cNvPicPr preferRelativeResize="0"/>
          <p:nvPr/>
        </p:nvPicPr>
        <p:blipFill>
          <a:blip r:embed="rId3"/>
          <a:stretch>
            <a:fillRect/>
          </a:stretch>
        </p:blipFill>
        <p:spPr>
          <a:xfrm>
            <a:off x="1788175" y="5344827"/>
            <a:ext cx="3662400" cy="3174975"/>
          </a:xfrm>
          <a:prstGeom prst="rect">
            <a:avLst/>
          </a:prstGeom>
          <a:noFill/>
          <a:ln>
            <a:noFill/>
          </a:ln>
        </p:spPr>
      </p:pic>
      <p:pic>
        <p:nvPicPr>
          <p:cNvPr id="174" name="Google Shape;174;p6"/>
          <p:cNvPicPr preferRelativeResize="0"/>
          <p:nvPr/>
        </p:nvPicPr>
        <p:blipFill>
          <a:blip r:embed="rId4"/>
          <a:stretch>
            <a:fillRect/>
          </a:stretch>
        </p:blipFill>
        <p:spPr>
          <a:xfrm>
            <a:off x="8238200" y="2803325"/>
            <a:ext cx="7181676" cy="3634125"/>
          </a:xfrm>
          <a:prstGeom prst="rect">
            <a:avLst/>
          </a:prstGeom>
          <a:noFill/>
          <a:ln>
            <a:noFill/>
          </a:ln>
        </p:spPr>
      </p:pic>
      <p:sp>
        <p:nvSpPr>
          <p:cNvPr id="175" name="Google Shape;175;p6"/>
          <p:cNvSpPr txBox="1"/>
          <p:nvPr/>
        </p:nvSpPr>
        <p:spPr>
          <a:xfrm>
            <a:off x="7996150" y="7088200"/>
            <a:ext cx="70092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solidFill>
                  <a:srgbClr val="980000"/>
                </a:solidFill>
              </a:rPr>
              <a:t>The model shows that </a:t>
            </a:r>
            <a:r>
              <a:rPr lang="en-US" sz="2700" b="1">
                <a:solidFill>
                  <a:srgbClr val="980000"/>
                </a:solidFill>
              </a:rPr>
              <a:t>quality, size, and location are the three most important factors affecting house prices</a:t>
            </a:r>
            <a:r>
              <a:rPr lang="en-US" sz="2700" b="1">
                <a:solidFill>
                  <a:srgbClr val="980000"/>
                </a:solidFill>
              </a:rPr>
              <a:t>. </a:t>
            </a:r>
            <a:endParaRPr sz="3000" b="1">
              <a:solidFill>
                <a:srgbClr val="98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81" name="Google Shape;181;p7"/>
          <p:cNvSpPr/>
          <p:nvPr/>
        </p:nvSpPr>
        <p:spPr>
          <a:xfrm>
            <a:off x="8553376" y="3875855"/>
            <a:ext cx="9983326" cy="4592330"/>
          </a:xfrm>
          <a:custGeom>
            <a:avLst/>
            <a:gdLst/>
            <a:ahLst/>
            <a:cxnLst/>
            <a:rect l="l" t="t" r="r" b="b"/>
            <a:pathLst>
              <a:path w="9983326" h="4592330" extrusionOk="0">
                <a:moveTo>
                  <a:pt x="0" y="0"/>
                </a:moveTo>
                <a:lnTo>
                  <a:pt x="9983327" y="0"/>
                </a:lnTo>
                <a:lnTo>
                  <a:pt x="9983327" y="4592331"/>
                </a:lnTo>
                <a:lnTo>
                  <a:pt x="0" y="4592331"/>
                </a:lnTo>
                <a:lnTo>
                  <a:pt x="0" y="0"/>
                </a:lnTo>
                <a:close/>
              </a:path>
            </a:pathLst>
          </a:custGeom>
          <a:blipFill rotWithShape="1">
            <a:blip r:embed="rId2"/>
            <a:stretch>
              <a:fillRect/>
            </a:stretch>
          </a:blipFill>
          <a:ln>
            <a:noFill/>
          </a:ln>
        </p:spPr>
      </p:sp>
      <p:grpSp>
        <p:nvGrpSpPr>
          <p:cNvPr id="182" name="Google Shape;182;p7"/>
          <p:cNvGrpSpPr/>
          <p:nvPr/>
        </p:nvGrpSpPr>
        <p:grpSpPr>
          <a:xfrm>
            <a:off x="805818" y="3034624"/>
            <a:ext cx="9080302" cy="2617765"/>
            <a:chOff x="0" y="-57150"/>
            <a:chExt cx="2391504" cy="689448"/>
          </a:xfrm>
        </p:grpSpPr>
        <p:sp>
          <p:nvSpPr>
            <p:cNvPr id="183" name="Google Shape;183;p7"/>
            <p:cNvSpPr/>
            <p:nvPr/>
          </p:nvSpPr>
          <p:spPr>
            <a:xfrm>
              <a:off x="0" y="0"/>
              <a:ext cx="2391504" cy="632298"/>
            </a:xfrm>
            <a:custGeom>
              <a:avLst/>
              <a:gdLst/>
              <a:ahLst/>
              <a:cxnLst/>
              <a:rect l="l" t="t" r="r" b="b"/>
              <a:pathLst>
                <a:path w="2391504" h="632298" extrusionOk="0">
                  <a:moveTo>
                    <a:pt x="28989" y="0"/>
                  </a:moveTo>
                  <a:lnTo>
                    <a:pt x="2362515" y="0"/>
                  </a:lnTo>
                  <a:cubicBezTo>
                    <a:pt x="2378525" y="0"/>
                    <a:pt x="2391504" y="12979"/>
                    <a:pt x="2391504" y="28989"/>
                  </a:cubicBezTo>
                  <a:lnTo>
                    <a:pt x="2391504" y="603309"/>
                  </a:lnTo>
                  <a:cubicBezTo>
                    <a:pt x="2391504" y="610997"/>
                    <a:pt x="2388450" y="618371"/>
                    <a:pt x="2383013" y="623807"/>
                  </a:cubicBezTo>
                  <a:cubicBezTo>
                    <a:pt x="2377577" y="629243"/>
                    <a:pt x="2370204" y="632298"/>
                    <a:pt x="2362515" y="632298"/>
                  </a:cubicBezTo>
                  <a:lnTo>
                    <a:pt x="28989" y="632298"/>
                  </a:lnTo>
                  <a:cubicBezTo>
                    <a:pt x="21300" y="632298"/>
                    <a:pt x="13927" y="629243"/>
                    <a:pt x="8491" y="623807"/>
                  </a:cubicBezTo>
                  <a:cubicBezTo>
                    <a:pt x="3054" y="618371"/>
                    <a:pt x="0" y="610997"/>
                    <a:pt x="0" y="603309"/>
                  </a:cubicBezTo>
                  <a:lnTo>
                    <a:pt x="0" y="28989"/>
                  </a:lnTo>
                  <a:cubicBezTo>
                    <a:pt x="0" y="21300"/>
                    <a:pt x="3054" y="13927"/>
                    <a:pt x="8491" y="8491"/>
                  </a:cubicBezTo>
                  <a:cubicBezTo>
                    <a:pt x="13927" y="3054"/>
                    <a:pt x="21300" y="0"/>
                    <a:pt x="28989"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7"/>
            <p:cNvSpPr txBox="1"/>
            <p:nvPr/>
          </p:nvSpPr>
          <p:spPr>
            <a:xfrm>
              <a:off x="0" y="-57150"/>
              <a:ext cx="2391504" cy="689448"/>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5" name="Google Shape;185;p7"/>
          <p:cNvSpPr/>
          <p:nvPr/>
        </p:nvSpPr>
        <p:spPr>
          <a:xfrm>
            <a:off x="910541" y="3503060"/>
            <a:ext cx="2014538" cy="1560414"/>
          </a:xfrm>
          <a:custGeom>
            <a:avLst/>
            <a:gdLst/>
            <a:ahLst/>
            <a:cxnLst/>
            <a:rect l="l" t="t" r="r" b="b"/>
            <a:pathLst>
              <a:path w="2014538" h="1560414" extrusionOk="0">
                <a:moveTo>
                  <a:pt x="0" y="0"/>
                </a:moveTo>
                <a:lnTo>
                  <a:pt x="2014538" y="0"/>
                </a:lnTo>
                <a:lnTo>
                  <a:pt x="2014538" y="1560414"/>
                </a:lnTo>
                <a:lnTo>
                  <a:pt x="0" y="1560414"/>
                </a:lnTo>
                <a:lnTo>
                  <a:pt x="0" y="0"/>
                </a:lnTo>
                <a:close/>
              </a:path>
            </a:pathLst>
          </a:custGeom>
          <a:blipFill rotWithShape="1">
            <a:blip r:embed="rId3"/>
            <a:stretch>
              <a:fillRect/>
            </a:stretch>
          </a:blipFill>
          <a:ln>
            <a:noFill/>
          </a:ln>
        </p:spPr>
      </p:sp>
      <p:sp>
        <p:nvSpPr>
          <p:cNvPr id="186" name="Google Shape;186;p7"/>
          <p:cNvSpPr/>
          <p:nvPr/>
        </p:nvSpPr>
        <p:spPr>
          <a:xfrm>
            <a:off x="-2542620" y="8101649"/>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sp>
        <p:nvSpPr>
          <p:cNvPr id="187" name="Google Shape;187;p7"/>
          <p:cNvSpPr txBox="1"/>
          <p:nvPr/>
        </p:nvSpPr>
        <p:spPr>
          <a:xfrm>
            <a:off x="3236595" y="1160780"/>
            <a:ext cx="12440920" cy="14687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815">
                <a:solidFill>
                  <a:srgbClr val="CD4146"/>
                </a:solidFill>
                <a:latin typeface="Oswald"/>
                <a:ea typeface="Oswald"/>
                <a:cs typeface="Oswald"/>
                <a:sym typeface="Oswald"/>
              </a:rPr>
              <a:t>Introduction to the XGBoost</a:t>
            </a:r>
            <a:endParaRPr sz="6815" b="0" i="0" u="none" strike="noStrike" cap="none">
              <a:solidFill>
                <a:srgbClr val="CD4146"/>
              </a:solidFill>
              <a:latin typeface="Oswald"/>
              <a:ea typeface="Oswald"/>
              <a:cs typeface="Oswald"/>
              <a:sym typeface="Oswald"/>
            </a:endParaRPr>
          </a:p>
        </p:txBody>
      </p:sp>
      <p:sp>
        <p:nvSpPr>
          <p:cNvPr id="188" name="Google Shape;188;p7"/>
          <p:cNvSpPr txBox="1"/>
          <p:nvPr/>
        </p:nvSpPr>
        <p:spPr>
          <a:xfrm>
            <a:off x="3236650" y="3455200"/>
            <a:ext cx="6508200" cy="1680900"/>
          </a:xfrm>
          <a:prstGeom prst="rect">
            <a:avLst/>
          </a:prstGeom>
          <a:noFill/>
          <a:ln>
            <a:noFill/>
          </a:ln>
        </p:spPr>
        <p:txBody>
          <a:bodyPr spcFirstLastPara="1" wrap="square" lIns="0" tIns="0" rIns="0" bIns="0" anchor="t" anchorCtr="0">
            <a:spAutoFit/>
          </a:bodyPr>
          <a:lstStyle/>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Handles structured features effectively</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Captures non-linear </a:t>
            </a:r>
            <a:r>
              <a:rPr lang="en-US" sz="2100">
                <a:solidFill>
                  <a:srgbClr val="CD4146"/>
                </a:solidFill>
                <a:latin typeface="Poppins" panose="00000500000000000000"/>
                <a:ea typeface="Poppins" panose="00000500000000000000"/>
                <a:cs typeface="Poppins" panose="00000500000000000000"/>
                <a:sym typeface="Poppins" panose="00000500000000000000"/>
              </a:rPr>
              <a:t>relationships</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Learns feature interactions automatically</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Early Stopping Support</a:t>
            </a: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189" name="Google Shape;189;p7"/>
          <p:cNvSpPr/>
          <p:nvPr/>
        </p:nvSpPr>
        <p:spPr>
          <a:xfrm>
            <a:off x="16652975" y="2105976"/>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pic>
        <p:nvPicPr>
          <p:cNvPr id="190" name="Google Shape;190;p7" title="截屏2026-04-19 10.16.07.png"/>
          <p:cNvPicPr preferRelativeResize="0"/>
          <p:nvPr/>
        </p:nvPicPr>
        <p:blipFill>
          <a:blip r:embed="rId5"/>
          <a:stretch>
            <a:fillRect/>
          </a:stretch>
        </p:blipFill>
        <p:spPr>
          <a:xfrm>
            <a:off x="1552575" y="5961475"/>
            <a:ext cx="6038850" cy="413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196" name="Google Shape;196;p8"/>
          <p:cNvSpPr/>
          <p:nvPr/>
        </p:nvSpPr>
        <p:spPr>
          <a:xfrm>
            <a:off x="15005339" y="6293632"/>
            <a:ext cx="6017177" cy="5929335"/>
          </a:xfrm>
          <a:custGeom>
            <a:avLst/>
            <a:gdLst/>
            <a:ahLst/>
            <a:cxnLst/>
            <a:rect l="l" t="t" r="r" b="b"/>
            <a:pathLst>
              <a:path w="6017177" h="5929335" extrusionOk="0">
                <a:moveTo>
                  <a:pt x="0" y="0"/>
                </a:moveTo>
                <a:lnTo>
                  <a:pt x="6017177" y="0"/>
                </a:lnTo>
                <a:lnTo>
                  <a:pt x="6017177" y="5929336"/>
                </a:lnTo>
                <a:lnTo>
                  <a:pt x="0" y="5929336"/>
                </a:lnTo>
                <a:lnTo>
                  <a:pt x="0" y="0"/>
                </a:lnTo>
                <a:close/>
              </a:path>
            </a:pathLst>
          </a:custGeom>
          <a:blipFill rotWithShape="1">
            <a:blip r:embed="rId2"/>
            <a:stretch>
              <a:fillRect/>
            </a:stretch>
          </a:blipFill>
          <a:ln>
            <a:noFill/>
          </a:ln>
        </p:spPr>
      </p:sp>
      <p:sp>
        <p:nvSpPr>
          <p:cNvPr id="197" name="Google Shape;197;p8"/>
          <p:cNvSpPr/>
          <p:nvPr/>
        </p:nvSpPr>
        <p:spPr>
          <a:xfrm>
            <a:off x="-1861792" y="-1069654"/>
            <a:ext cx="4258882" cy="4196709"/>
          </a:xfrm>
          <a:custGeom>
            <a:avLst/>
            <a:gdLst/>
            <a:ahLst/>
            <a:cxnLst/>
            <a:rect l="l" t="t" r="r" b="b"/>
            <a:pathLst>
              <a:path w="4258882" h="4196709" extrusionOk="0">
                <a:moveTo>
                  <a:pt x="0" y="0"/>
                </a:moveTo>
                <a:lnTo>
                  <a:pt x="4258883" y="0"/>
                </a:lnTo>
                <a:lnTo>
                  <a:pt x="4258883" y="4196708"/>
                </a:lnTo>
                <a:lnTo>
                  <a:pt x="0" y="4196708"/>
                </a:lnTo>
                <a:lnTo>
                  <a:pt x="0" y="0"/>
                </a:lnTo>
                <a:close/>
              </a:path>
            </a:pathLst>
          </a:custGeom>
          <a:blipFill rotWithShape="1">
            <a:blip r:embed="rId2"/>
            <a:stretch>
              <a:fillRect/>
            </a:stretch>
          </a:blipFill>
          <a:ln>
            <a:noFill/>
          </a:ln>
        </p:spPr>
      </p:sp>
      <p:grpSp>
        <p:nvGrpSpPr>
          <p:cNvPr id="198" name="Google Shape;198;p8"/>
          <p:cNvGrpSpPr/>
          <p:nvPr/>
        </p:nvGrpSpPr>
        <p:grpSpPr>
          <a:xfrm>
            <a:off x="568345" y="965714"/>
            <a:ext cx="17151310" cy="8138581"/>
            <a:chOff x="0" y="-57150"/>
            <a:chExt cx="4517218" cy="2143495"/>
          </a:xfrm>
        </p:grpSpPr>
        <p:sp>
          <p:nvSpPr>
            <p:cNvPr id="199" name="Google Shape;199;p8"/>
            <p:cNvSpPr/>
            <p:nvPr/>
          </p:nvSpPr>
          <p:spPr>
            <a:xfrm>
              <a:off x="0" y="0"/>
              <a:ext cx="4517218" cy="2086345"/>
            </a:xfrm>
            <a:custGeom>
              <a:avLst/>
              <a:gdLst/>
              <a:ahLst/>
              <a:cxnLst/>
              <a:rect l="l" t="t" r="r" b="b"/>
              <a:pathLst>
                <a:path w="4517218" h="2086345" extrusionOk="0">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8"/>
            <p:cNvSpPr txBox="1"/>
            <p:nvPr/>
          </p:nvSpPr>
          <p:spPr>
            <a:xfrm>
              <a:off x="0" y="-57150"/>
              <a:ext cx="4517218" cy="2143495"/>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1" name="Google Shape;201;p8"/>
          <p:cNvSpPr txBox="1"/>
          <p:nvPr/>
        </p:nvSpPr>
        <p:spPr>
          <a:xfrm>
            <a:off x="4295549" y="1731724"/>
            <a:ext cx="9696900" cy="1049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815">
                <a:solidFill>
                  <a:srgbClr val="CD4146"/>
                </a:solidFill>
                <a:latin typeface="Oswald"/>
                <a:ea typeface="Oswald"/>
                <a:cs typeface="Oswald"/>
                <a:sym typeface="Oswald"/>
              </a:rPr>
              <a:t>XGBoost prediction results</a:t>
            </a:r>
            <a:endParaRPr sz="6815" b="0" i="0" u="none" strike="noStrike" cap="none">
              <a:solidFill>
                <a:srgbClr val="CD4146"/>
              </a:solidFill>
              <a:latin typeface="Oswald"/>
              <a:ea typeface="Oswald"/>
              <a:cs typeface="Oswald"/>
              <a:sym typeface="Oswald"/>
            </a:endParaRPr>
          </a:p>
        </p:txBody>
      </p:sp>
      <p:sp>
        <p:nvSpPr>
          <p:cNvPr id="202" name="Google Shape;202;p8"/>
          <p:cNvSpPr txBox="1"/>
          <p:nvPr/>
        </p:nvSpPr>
        <p:spPr>
          <a:xfrm>
            <a:off x="1310101" y="6293625"/>
            <a:ext cx="8606100" cy="16809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100" b="1">
                <a:solidFill>
                  <a:srgbClr val="CD4146"/>
                </a:solidFill>
                <a:latin typeface="Poppins" panose="00000500000000000000"/>
                <a:ea typeface="Poppins" panose="00000500000000000000"/>
                <a:cs typeface="Poppins" panose="00000500000000000000"/>
                <a:sym typeface="Poppins" panose="00000500000000000000"/>
              </a:rPr>
              <a:t>The function of Early Stopping:</a:t>
            </a:r>
            <a:endParaRPr sz="2100" b="1">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Prevent model deterioration</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Improve result stability</a:t>
            </a:r>
            <a:endParaRPr sz="2100">
              <a:solidFill>
                <a:srgbClr val="CD4146"/>
              </a:solidFill>
              <a:latin typeface="Poppins" panose="00000500000000000000"/>
              <a:ea typeface="Poppins" panose="00000500000000000000"/>
              <a:cs typeface="Poppins" panose="00000500000000000000"/>
              <a:sym typeface="Poppins" panose="00000500000000000000"/>
            </a:endParaRPr>
          </a:p>
          <a:p>
            <a:pPr marL="457200" marR="0" lvl="0" indent="-361950" algn="just" rtl="0">
              <a:lnSpc>
                <a:spcPct val="140000"/>
              </a:lnSpc>
              <a:spcBef>
                <a:spcPts val="0"/>
              </a:spcBef>
              <a:spcAft>
                <a:spcPts val="0"/>
              </a:spcAft>
              <a:buClr>
                <a:srgbClr val="CD4146"/>
              </a:buClr>
              <a:buSzPts val="2100"/>
              <a:buFont typeface="Poppins" panose="00000500000000000000"/>
              <a:buChar char="●"/>
            </a:pPr>
            <a:r>
              <a:rPr lang="en-US" sz="2100">
                <a:solidFill>
                  <a:srgbClr val="CD4146"/>
                </a:solidFill>
                <a:latin typeface="Poppins" panose="00000500000000000000"/>
                <a:ea typeface="Poppins" panose="00000500000000000000"/>
                <a:cs typeface="Poppins" panose="00000500000000000000"/>
                <a:sym typeface="Poppins" panose="00000500000000000000"/>
              </a:rPr>
              <a:t>Automatically select the optimal number of training rounds</a:t>
            </a: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pic>
        <p:nvPicPr>
          <p:cNvPr id="203" name="Google Shape;203;p8" title="截屏2026-04-19 10.21.33.png"/>
          <p:cNvPicPr preferRelativeResize="0"/>
          <p:nvPr/>
        </p:nvPicPr>
        <p:blipFill>
          <a:blip r:embed="rId3"/>
          <a:stretch>
            <a:fillRect/>
          </a:stretch>
        </p:blipFill>
        <p:spPr>
          <a:xfrm>
            <a:off x="10306261" y="3943600"/>
            <a:ext cx="7187840" cy="4196700"/>
          </a:xfrm>
          <a:prstGeom prst="rect">
            <a:avLst/>
          </a:prstGeom>
          <a:noFill/>
          <a:ln>
            <a:noFill/>
          </a:ln>
        </p:spPr>
      </p:pic>
      <p:graphicFrame>
        <p:nvGraphicFramePr>
          <p:cNvPr id="204" name="Google Shape;204;p8"/>
          <p:cNvGraphicFramePr/>
          <p:nvPr/>
        </p:nvGraphicFramePr>
        <p:xfrm>
          <a:off x="1009650" y="4190825"/>
          <a:ext cx="8734875" cy="3000000"/>
        </p:xfrm>
        <a:graphic>
          <a:graphicData uri="http://schemas.openxmlformats.org/drawingml/2006/table">
            <a:tbl>
              <a:tblPr>
                <a:noFill/>
                <a:tableStyleId>{9D749FD4-13C6-4986-B67F-3A5D23CD136A}</a:tableStyleId>
              </a:tblPr>
              <a:tblGrid>
                <a:gridCol w="1746975"/>
                <a:gridCol w="1746975"/>
                <a:gridCol w="1746975"/>
                <a:gridCol w="1746975"/>
                <a:gridCol w="1746975"/>
              </a:tblGrid>
              <a:tr h="349700">
                <a:tc>
                  <a:txBody>
                    <a:bodyPr/>
                    <a:lstStyle/>
                    <a:p>
                      <a:pPr marL="0" lvl="0" indent="0" algn="l" rtl="0">
                        <a:spcBef>
                          <a:spcPts val="0"/>
                        </a:spcBef>
                        <a:spcAft>
                          <a:spcPts val="0"/>
                        </a:spcAft>
                        <a:buNone/>
                      </a:pPr>
                      <a:r>
                        <a:rPr lang="en-US"/>
                        <a:t>Model</a:t>
                      </a:r>
                      <a:endParaRPr lang="en-US"/>
                    </a:p>
                  </a:txBody>
                  <a:tcPr marL="91425" marR="91425" marT="91425" marB="91425"/>
                </a:tc>
                <a:tc>
                  <a:txBody>
                    <a:bodyPr/>
                    <a:lstStyle/>
                    <a:p>
                      <a:pPr marL="0" lvl="0" indent="0" algn="l" rtl="0">
                        <a:spcBef>
                          <a:spcPts val="0"/>
                        </a:spcBef>
                        <a:spcAft>
                          <a:spcPts val="0"/>
                        </a:spcAft>
                        <a:buNone/>
                      </a:pPr>
                      <a:r>
                        <a:rPr lang="en-US"/>
                        <a:t>Val RMSE</a:t>
                      </a:r>
                      <a:endParaRPr lang="en-US"/>
                    </a:p>
                  </a:txBody>
                  <a:tcPr marL="91425" marR="91425" marT="91425" marB="91425"/>
                </a:tc>
                <a:tc>
                  <a:txBody>
                    <a:bodyPr/>
                    <a:lstStyle/>
                    <a:p>
                      <a:pPr marL="0" lvl="0" indent="0" algn="l" rtl="0">
                        <a:spcBef>
                          <a:spcPts val="0"/>
                        </a:spcBef>
                        <a:spcAft>
                          <a:spcPts val="0"/>
                        </a:spcAft>
                        <a:buNone/>
                      </a:pPr>
                      <a:r>
                        <a:rPr lang="en-US"/>
                        <a:t>Test RMSE</a:t>
                      </a:r>
                      <a:endParaRPr lang="en-US"/>
                    </a:p>
                  </a:txBody>
                  <a:tcPr marL="91425" marR="91425" marT="91425" marB="91425"/>
                </a:tc>
                <a:tc>
                  <a:txBody>
                    <a:bodyPr/>
                    <a:lstStyle/>
                    <a:p>
                      <a:pPr marL="0" lvl="0" indent="0" algn="l" rtl="0">
                        <a:spcBef>
                          <a:spcPts val="0"/>
                        </a:spcBef>
                        <a:spcAft>
                          <a:spcPts val="0"/>
                        </a:spcAft>
                        <a:buNone/>
                      </a:pPr>
                      <a:r>
                        <a:rPr lang="en-US"/>
                        <a:t>Val R^2</a:t>
                      </a:r>
                      <a:endParaRPr lang="en-US"/>
                    </a:p>
                  </a:txBody>
                  <a:tcPr marL="91425" marR="91425" marT="91425" marB="91425"/>
                </a:tc>
                <a:tc>
                  <a:txBody>
                    <a:bodyPr/>
                    <a:lstStyle/>
                    <a:p>
                      <a:pPr marL="0" lvl="0" indent="0" algn="l" rtl="0">
                        <a:spcBef>
                          <a:spcPts val="0"/>
                        </a:spcBef>
                        <a:spcAft>
                          <a:spcPts val="0"/>
                        </a:spcAft>
                        <a:buNone/>
                      </a:pPr>
                      <a:r>
                        <a:rPr lang="en-US">
                          <a:solidFill>
                            <a:schemeClr val="dk1"/>
                          </a:solidFill>
                        </a:rPr>
                        <a:t>Test R^2</a:t>
                      </a:r>
                      <a:endParaRPr lang="en-US">
                        <a:solidFill>
                          <a:schemeClr val="dk1"/>
                        </a:solidFill>
                      </a:endParaRPr>
                    </a:p>
                  </a:txBody>
                  <a:tcPr marL="91425" marR="91425" marT="91425" marB="91425"/>
                </a:tc>
              </a:tr>
              <a:tr h="349700">
                <a:tc>
                  <a:txBody>
                    <a:bodyPr/>
                    <a:lstStyle/>
                    <a:p>
                      <a:pPr marL="0" lvl="0" indent="0" algn="l" rtl="0">
                        <a:spcBef>
                          <a:spcPts val="0"/>
                        </a:spcBef>
                        <a:spcAft>
                          <a:spcPts val="0"/>
                        </a:spcAft>
                        <a:buNone/>
                      </a:pPr>
                      <a:r>
                        <a:rPr lang="en-US"/>
                        <a:t>No early stopping</a:t>
                      </a:r>
                      <a:endParaRPr lang="en-US"/>
                    </a:p>
                  </a:txBody>
                  <a:tcPr marL="91425" marR="91425" marT="91425" marB="91425"/>
                </a:tc>
                <a:tc>
                  <a:txBody>
                    <a:bodyPr/>
                    <a:lstStyle/>
                    <a:p>
                      <a:pPr marL="0" lvl="0" indent="0" algn="l" rtl="0">
                        <a:spcBef>
                          <a:spcPts val="0"/>
                        </a:spcBef>
                        <a:spcAft>
                          <a:spcPts val="0"/>
                        </a:spcAft>
                        <a:buNone/>
                      </a:pPr>
                      <a:r>
                        <a:rPr lang="en-US"/>
                        <a:t>119245.220828</a:t>
                      </a:r>
                      <a:endParaRPr lang="en-US"/>
                    </a:p>
                  </a:txBody>
                  <a:tcPr marL="91425" marR="91425" marT="91425" marB="91425"/>
                </a:tc>
                <a:tc>
                  <a:txBody>
                    <a:bodyPr/>
                    <a:lstStyle/>
                    <a:p>
                      <a:pPr marL="0" lvl="0" indent="0" algn="l" rtl="0">
                        <a:spcBef>
                          <a:spcPts val="0"/>
                        </a:spcBef>
                        <a:spcAft>
                          <a:spcPts val="0"/>
                        </a:spcAft>
                        <a:buNone/>
                      </a:pPr>
                      <a:r>
                        <a:rPr lang="en-US"/>
                        <a:t>120046.513293</a:t>
                      </a:r>
                      <a:endParaRPr lang="en-US"/>
                    </a:p>
                  </a:txBody>
                  <a:tcPr marL="91425" marR="91425" marT="91425" marB="91425"/>
                </a:tc>
                <a:tc>
                  <a:txBody>
                    <a:bodyPr/>
                    <a:lstStyle/>
                    <a:p>
                      <a:pPr marL="0" lvl="0" indent="0" algn="l" rtl="0">
                        <a:spcBef>
                          <a:spcPts val="0"/>
                        </a:spcBef>
                        <a:spcAft>
                          <a:spcPts val="0"/>
                        </a:spcAft>
                        <a:buNone/>
                      </a:pPr>
                      <a:r>
                        <a:rPr lang="en-US"/>
                        <a:t>0.891377</a:t>
                      </a:r>
                      <a:endParaRPr lang="en-US"/>
                    </a:p>
                  </a:txBody>
                  <a:tcPr marL="91425" marR="91425" marT="91425" marB="91425"/>
                </a:tc>
                <a:tc>
                  <a:txBody>
                    <a:bodyPr/>
                    <a:lstStyle/>
                    <a:p>
                      <a:pPr marL="0" lvl="0" indent="0" algn="l" rtl="0">
                        <a:spcBef>
                          <a:spcPts val="0"/>
                        </a:spcBef>
                        <a:spcAft>
                          <a:spcPts val="0"/>
                        </a:spcAft>
                        <a:buNone/>
                      </a:pPr>
                      <a:r>
                        <a:rPr lang="en-US"/>
                        <a:t>0.914230</a:t>
                      </a:r>
                      <a:endParaRPr lang="en-US"/>
                    </a:p>
                  </a:txBody>
                  <a:tcPr marL="91425" marR="91425" marT="91425" marB="91425"/>
                </a:tc>
              </a:tr>
              <a:tr h="349700">
                <a:tc>
                  <a:txBody>
                    <a:bodyPr/>
                    <a:lstStyle/>
                    <a:p>
                      <a:pPr marL="0" lvl="0" indent="0" algn="l" rtl="0">
                        <a:spcBef>
                          <a:spcPts val="0"/>
                        </a:spcBef>
                        <a:spcAft>
                          <a:spcPts val="0"/>
                        </a:spcAft>
                        <a:buNone/>
                      </a:pPr>
                      <a:r>
                        <a:rPr lang="en-US"/>
                        <a:t>With early stopping</a:t>
                      </a:r>
                      <a:endParaRPr lang="en-US"/>
                    </a:p>
                  </a:txBody>
                  <a:tcPr marL="91425" marR="91425" marT="91425" marB="91425"/>
                </a:tc>
                <a:tc>
                  <a:txBody>
                    <a:bodyPr/>
                    <a:lstStyle/>
                    <a:p>
                      <a:pPr marL="0" lvl="0" indent="0" algn="l" rtl="0">
                        <a:spcBef>
                          <a:spcPts val="0"/>
                        </a:spcBef>
                        <a:spcAft>
                          <a:spcPts val="0"/>
                        </a:spcAft>
                        <a:buNone/>
                      </a:pPr>
                      <a:r>
                        <a:rPr lang="en-US"/>
                        <a:t>118521.778184</a:t>
                      </a:r>
                      <a:endParaRPr lang="en-US"/>
                    </a:p>
                  </a:txBody>
                  <a:tcPr marL="91425" marR="91425" marT="91425" marB="91425"/>
                </a:tc>
                <a:tc>
                  <a:txBody>
                    <a:bodyPr/>
                    <a:lstStyle/>
                    <a:p>
                      <a:pPr marL="0" lvl="0" indent="0" algn="l" rtl="0">
                        <a:spcBef>
                          <a:spcPts val="0"/>
                        </a:spcBef>
                        <a:spcAft>
                          <a:spcPts val="0"/>
                        </a:spcAft>
                        <a:buNone/>
                      </a:pPr>
                      <a:r>
                        <a:rPr lang="en-US"/>
                        <a:t>118958.002996</a:t>
                      </a:r>
                      <a:endParaRPr lang="en-US"/>
                    </a:p>
                  </a:txBody>
                  <a:tcPr marL="91425" marR="91425" marT="91425" marB="91425"/>
                </a:tc>
                <a:tc>
                  <a:txBody>
                    <a:bodyPr/>
                    <a:lstStyle/>
                    <a:p>
                      <a:pPr marL="0" lvl="0" indent="0" algn="l" rtl="0">
                        <a:spcBef>
                          <a:spcPts val="0"/>
                        </a:spcBef>
                        <a:spcAft>
                          <a:spcPts val="0"/>
                        </a:spcAft>
                        <a:buNone/>
                      </a:pPr>
                      <a:r>
                        <a:rPr lang="en-US"/>
                        <a:t>0.892691</a:t>
                      </a:r>
                      <a:endParaRPr lang="en-US"/>
                    </a:p>
                  </a:txBody>
                  <a:tcPr marL="91425" marR="91425" marT="91425" marB="91425"/>
                </a:tc>
                <a:tc>
                  <a:txBody>
                    <a:bodyPr/>
                    <a:lstStyle/>
                    <a:p>
                      <a:pPr marL="0" lvl="0" indent="0" algn="l" rtl="0">
                        <a:spcBef>
                          <a:spcPts val="0"/>
                        </a:spcBef>
                        <a:spcAft>
                          <a:spcPts val="0"/>
                        </a:spcAft>
                        <a:buNone/>
                      </a:pPr>
                      <a:r>
                        <a:rPr lang="en-US"/>
                        <a:t>0.915778</a:t>
                      </a:r>
                      <a:endParaRPr lang="en-US"/>
                    </a:p>
                  </a:txBody>
                  <a:tcPr marL="91425" marR="91425" marT="91425" marB="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08" name="Shape 208"/>
        <p:cNvGrpSpPr/>
        <p:nvPr/>
      </p:nvGrpSpPr>
      <p:grpSpPr>
        <a:xfrm>
          <a:off x="0" y="0"/>
          <a:ext cx="0" cy="0"/>
          <a:chOff x="0" y="0"/>
          <a:chExt cx="0" cy="0"/>
        </a:xfrm>
      </p:grpSpPr>
      <p:sp>
        <p:nvSpPr>
          <p:cNvPr id="209" name="Google Shape;209;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210" name="Google Shape;210;p9"/>
          <p:cNvSpPr/>
          <p:nvPr/>
        </p:nvSpPr>
        <p:spPr>
          <a:xfrm>
            <a:off x="9727577" y="3806694"/>
            <a:ext cx="7312763" cy="4707591"/>
          </a:xfrm>
          <a:custGeom>
            <a:avLst/>
            <a:gdLst/>
            <a:ahLst/>
            <a:cxnLst/>
            <a:rect l="l" t="t" r="r" b="b"/>
            <a:pathLst>
              <a:path w="7312763" h="4707591" extrusionOk="0">
                <a:moveTo>
                  <a:pt x="0" y="0"/>
                </a:moveTo>
                <a:lnTo>
                  <a:pt x="7312763" y="0"/>
                </a:lnTo>
                <a:lnTo>
                  <a:pt x="7312763" y="4707592"/>
                </a:lnTo>
                <a:lnTo>
                  <a:pt x="0" y="4707592"/>
                </a:lnTo>
                <a:lnTo>
                  <a:pt x="0" y="0"/>
                </a:lnTo>
                <a:close/>
              </a:path>
            </a:pathLst>
          </a:custGeom>
          <a:blipFill rotWithShape="1">
            <a:blip r:embed="rId2"/>
            <a:stretch>
              <a:fillRect/>
            </a:stretch>
          </a:blipFill>
          <a:ln>
            <a:noFill/>
          </a:ln>
        </p:spPr>
      </p:sp>
      <p:sp>
        <p:nvSpPr>
          <p:cNvPr id="211" name="Google Shape;211;p9"/>
          <p:cNvSpPr/>
          <p:nvPr/>
        </p:nvSpPr>
        <p:spPr>
          <a:xfrm>
            <a:off x="567175" y="2507850"/>
            <a:ext cx="2733410" cy="2598165"/>
          </a:xfrm>
          <a:custGeom>
            <a:avLst/>
            <a:gdLst/>
            <a:ahLst/>
            <a:cxnLst/>
            <a:rect l="l" t="t" r="r" b="b"/>
            <a:pathLst>
              <a:path w="4221482" h="4259287" extrusionOk="0">
                <a:moveTo>
                  <a:pt x="0" y="0"/>
                </a:moveTo>
                <a:lnTo>
                  <a:pt x="4221483" y="0"/>
                </a:lnTo>
                <a:lnTo>
                  <a:pt x="4221483" y="4259287"/>
                </a:lnTo>
                <a:lnTo>
                  <a:pt x="0" y="4259287"/>
                </a:lnTo>
                <a:lnTo>
                  <a:pt x="0" y="0"/>
                </a:lnTo>
                <a:close/>
              </a:path>
            </a:pathLst>
          </a:custGeom>
          <a:blipFill rotWithShape="1">
            <a:blip r:embed="rId3"/>
            <a:stretch>
              <a:fillRect/>
            </a:stretch>
          </a:blipFill>
          <a:ln>
            <a:noFill/>
          </a:ln>
        </p:spPr>
      </p:sp>
      <p:sp>
        <p:nvSpPr>
          <p:cNvPr id="212" name="Google Shape;212;p9"/>
          <p:cNvSpPr/>
          <p:nvPr/>
        </p:nvSpPr>
        <p:spPr>
          <a:xfrm>
            <a:off x="-2542620" y="8101649"/>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sp>
        <p:nvSpPr>
          <p:cNvPr id="213" name="Google Shape;213;p9"/>
          <p:cNvSpPr/>
          <p:nvPr/>
        </p:nvSpPr>
        <p:spPr>
          <a:xfrm>
            <a:off x="8626222" y="6618220"/>
            <a:ext cx="967954" cy="1168928"/>
          </a:xfrm>
          <a:custGeom>
            <a:avLst/>
            <a:gdLst/>
            <a:ahLst/>
            <a:cxnLst/>
            <a:rect l="l" t="t" r="r" b="b"/>
            <a:pathLst>
              <a:path w="967954" h="1168928" extrusionOk="0">
                <a:moveTo>
                  <a:pt x="0" y="0"/>
                </a:moveTo>
                <a:lnTo>
                  <a:pt x="967955" y="0"/>
                </a:lnTo>
                <a:lnTo>
                  <a:pt x="967955" y="1168928"/>
                </a:lnTo>
                <a:lnTo>
                  <a:pt x="0" y="1168928"/>
                </a:lnTo>
                <a:lnTo>
                  <a:pt x="0" y="0"/>
                </a:lnTo>
                <a:close/>
              </a:path>
            </a:pathLst>
          </a:custGeom>
          <a:blipFill rotWithShape="1">
            <a:blip r:embed="rId5"/>
            <a:stretch>
              <a:fillRect/>
            </a:stretch>
          </a:blipFill>
          <a:ln>
            <a:noFill/>
          </a:ln>
        </p:spPr>
      </p:sp>
      <p:sp>
        <p:nvSpPr>
          <p:cNvPr id="214" name="Google Shape;214;p9"/>
          <p:cNvSpPr txBox="1"/>
          <p:nvPr/>
        </p:nvSpPr>
        <p:spPr>
          <a:xfrm>
            <a:off x="2910205" y="410845"/>
            <a:ext cx="13742670" cy="146875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6815">
                <a:solidFill>
                  <a:srgbClr val="CD4146"/>
                </a:solidFill>
                <a:latin typeface="Oswald"/>
                <a:ea typeface="Oswald"/>
                <a:cs typeface="Oswald"/>
                <a:sym typeface="Oswald"/>
              </a:rPr>
              <a:t>Introduction to the linear Regression</a:t>
            </a:r>
            <a:endParaRPr sz="6815" b="0" i="0" u="none" strike="noStrike" cap="none">
              <a:solidFill>
                <a:srgbClr val="CD4146"/>
              </a:solidFill>
              <a:latin typeface="Oswald"/>
              <a:ea typeface="Oswald"/>
              <a:cs typeface="Oswald"/>
              <a:sym typeface="Oswald"/>
            </a:endParaRPr>
          </a:p>
        </p:txBody>
      </p:sp>
      <p:sp>
        <p:nvSpPr>
          <p:cNvPr id="215" name="Google Shape;215;p9"/>
          <p:cNvSpPr txBox="1"/>
          <p:nvPr/>
        </p:nvSpPr>
        <p:spPr>
          <a:xfrm>
            <a:off x="1715434" y="6240464"/>
            <a:ext cx="63840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16" name="Google Shape;216;p9"/>
          <p:cNvSpPr/>
          <p:nvPr/>
        </p:nvSpPr>
        <p:spPr>
          <a:xfrm>
            <a:off x="16652975" y="2105976"/>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4"/>
            <a:stretch>
              <a:fillRect/>
            </a:stretch>
          </a:blipFill>
          <a:ln>
            <a:noFill/>
          </a:ln>
        </p:spPr>
      </p:sp>
      <p:sp>
        <p:nvSpPr>
          <p:cNvPr id="217" name="Google Shape;217;p9"/>
          <p:cNvSpPr/>
          <p:nvPr/>
        </p:nvSpPr>
        <p:spPr>
          <a:xfrm>
            <a:off x="567176" y="2261738"/>
            <a:ext cx="10749810" cy="2842180"/>
          </a:xfrm>
          <a:custGeom>
            <a:avLst/>
            <a:gdLst/>
            <a:ahLst/>
            <a:cxnLst/>
            <a:rect l="l" t="t" r="r" b="b"/>
            <a:pathLst>
              <a:path w="2391504" h="632298" extrusionOk="0">
                <a:moveTo>
                  <a:pt x="28989" y="0"/>
                </a:moveTo>
                <a:lnTo>
                  <a:pt x="2362515" y="0"/>
                </a:lnTo>
                <a:cubicBezTo>
                  <a:pt x="2378525" y="0"/>
                  <a:pt x="2391504" y="12979"/>
                  <a:pt x="2391504" y="28989"/>
                </a:cubicBezTo>
                <a:lnTo>
                  <a:pt x="2391504" y="603309"/>
                </a:lnTo>
                <a:cubicBezTo>
                  <a:pt x="2391504" y="610997"/>
                  <a:pt x="2388450" y="618371"/>
                  <a:pt x="2383013" y="623807"/>
                </a:cubicBezTo>
                <a:cubicBezTo>
                  <a:pt x="2377577" y="629243"/>
                  <a:pt x="2370204" y="632298"/>
                  <a:pt x="2362515" y="632298"/>
                </a:cubicBezTo>
                <a:lnTo>
                  <a:pt x="28989" y="632298"/>
                </a:lnTo>
                <a:cubicBezTo>
                  <a:pt x="21300" y="632298"/>
                  <a:pt x="13927" y="629243"/>
                  <a:pt x="8491" y="623807"/>
                </a:cubicBezTo>
                <a:cubicBezTo>
                  <a:pt x="3054" y="618371"/>
                  <a:pt x="0" y="610997"/>
                  <a:pt x="0" y="603309"/>
                </a:cubicBezTo>
                <a:lnTo>
                  <a:pt x="0" y="28989"/>
                </a:lnTo>
                <a:cubicBezTo>
                  <a:pt x="0" y="21300"/>
                  <a:pt x="3054" y="13927"/>
                  <a:pt x="8491" y="8491"/>
                </a:cubicBezTo>
                <a:cubicBezTo>
                  <a:pt x="13927" y="3054"/>
                  <a:pt x="21300" y="0"/>
                  <a:pt x="28989" y="0"/>
                </a:cubicBezTo>
                <a:close/>
              </a:path>
            </a:pathLst>
          </a:custGeom>
          <a:noFill/>
          <a:ln w="22550" cap="rnd" cmpd="sng">
            <a:solidFill>
              <a:srgbClr val="CD4146"/>
            </a:solidFill>
            <a:prstDash val="solid"/>
            <a:round/>
            <a:headEnd type="none" w="sm" len="sm"/>
            <a:tailEnd type="none" w="sm" len="sm"/>
          </a:ln>
        </p:spPr>
        <p:txBody>
          <a:bodyPr spcFirstLastPara="1" wrap="square" lIns="108225" tIns="108225" rIns="108225" bIns="108225" anchor="ctr" anchorCtr="0">
            <a:noAutofit/>
          </a:bodyPr>
          <a:lstStyle/>
          <a:p>
            <a:pPr marL="0" lvl="0" indent="0" algn="l" rtl="0">
              <a:spcBef>
                <a:spcPts val="0"/>
              </a:spcBef>
              <a:spcAft>
                <a:spcPts val="0"/>
              </a:spcAft>
              <a:buNone/>
            </a:pPr>
          </a:p>
        </p:txBody>
      </p:sp>
      <p:sp>
        <p:nvSpPr>
          <p:cNvPr id="218" name="Google Shape;218;p9"/>
          <p:cNvSpPr txBox="1"/>
          <p:nvPr/>
        </p:nvSpPr>
        <p:spPr>
          <a:xfrm>
            <a:off x="3721400" y="2312575"/>
            <a:ext cx="7549200" cy="2793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3400" b="1">
                <a:solidFill>
                  <a:srgbClr val="980000"/>
                </a:solidFill>
              </a:rPr>
              <a:t>Linear Regression is a supervised learning algorithm that models the relationship between input features and the target variable by fitting a linear equation.</a:t>
            </a:r>
            <a:endParaRPr sz="4300">
              <a:solidFill>
                <a:schemeClr val="dk1"/>
              </a:solidFill>
              <a:latin typeface="Calibri"/>
              <a:ea typeface="Calibri"/>
              <a:cs typeface="Calibri"/>
              <a:sym typeface="Calibri"/>
            </a:endParaRPr>
          </a:p>
        </p:txBody>
      </p:sp>
      <p:grpSp>
        <p:nvGrpSpPr>
          <p:cNvPr id="219" name="Google Shape;219;p9"/>
          <p:cNvGrpSpPr/>
          <p:nvPr/>
        </p:nvGrpSpPr>
        <p:grpSpPr>
          <a:xfrm>
            <a:off x="31675" y="5422599"/>
            <a:ext cx="8461242" cy="4712515"/>
            <a:chOff x="0" y="-57150"/>
            <a:chExt cx="2391600" cy="689448"/>
          </a:xfrm>
        </p:grpSpPr>
        <p:sp>
          <p:nvSpPr>
            <p:cNvPr id="220" name="Google Shape;220;p9"/>
            <p:cNvSpPr/>
            <p:nvPr/>
          </p:nvSpPr>
          <p:spPr>
            <a:xfrm>
              <a:off x="0" y="0"/>
              <a:ext cx="2391504" cy="632298"/>
            </a:xfrm>
            <a:custGeom>
              <a:avLst/>
              <a:gdLst/>
              <a:ahLst/>
              <a:cxnLst/>
              <a:rect l="l" t="t" r="r" b="b"/>
              <a:pathLst>
                <a:path w="2391504" h="632298" extrusionOk="0">
                  <a:moveTo>
                    <a:pt x="28989" y="0"/>
                  </a:moveTo>
                  <a:lnTo>
                    <a:pt x="2362515" y="0"/>
                  </a:lnTo>
                  <a:cubicBezTo>
                    <a:pt x="2378525" y="0"/>
                    <a:pt x="2391504" y="12979"/>
                    <a:pt x="2391504" y="28989"/>
                  </a:cubicBezTo>
                  <a:lnTo>
                    <a:pt x="2391504" y="603309"/>
                  </a:lnTo>
                  <a:cubicBezTo>
                    <a:pt x="2391504" y="610997"/>
                    <a:pt x="2388450" y="618371"/>
                    <a:pt x="2383013" y="623807"/>
                  </a:cubicBezTo>
                  <a:cubicBezTo>
                    <a:pt x="2377577" y="629243"/>
                    <a:pt x="2370204" y="632298"/>
                    <a:pt x="2362515" y="632298"/>
                  </a:cubicBezTo>
                  <a:lnTo>
                    <a:pt x="28989" y="632298"/>
                  </a:lnTo>
                  <a:cubicBezTo>
                    <a:pt x="21300" y="632298"/>
                    <a:pt x="13927" y="629243"/>
                    <a:pt x="8491" y="623807"/>
                  </a:cubicBezTo>
                  <a:cubicBezTo>
                    <a:pt x="3054" y="618371"/>
                    <a:pt x="0" y="610997"/>
                    <a:pt x="0" y="603309"/>
                  </a:cubicBezTo>
                  <a:lnTo>
                    <a:pt x="0" y="28989"/>
                  </a:lnTo>
                  <a:cubicBezTo>
                    <a:pt x="0" y="21300"/>
                    <a:pt x="3054" y="13927"/>
                    <a:pt x="8491" y="8491"/>
                  </a:cubicBezTo>
                  <a:cubicBezTo>
                    <a:pt x="13927" y="3054"/>
                    <a:pt x="21300" y="0"/>
                    <a:pt x="28989" y="0"/>
                  </a:cubicBezTo>
                  <a:close/>
                </a:path>
              </a:pathLst>
            </a:custGeom>
            <a:noFill/>
            <a:ln w="25325" cap="rnd" cmpd="sng">
              <a:solidFill>
                <a:srgbClr val="CD4146"/>
              </a:solidFill>
              <a:prstDash val="solid"/>
              <a:round/>
              <a:headEnd type="none" w="sm" len="sm"/>
              <a:tailEnd type="none" w="sm" len="sm"/>
            </a:ln>
          </p:spPr>
          <p:txBody>
            <a:bodyPr spcFirstLastPara="1" wrap="square" lIns="121525" tIns="121525" rIns="121525" bIns="121525" anchor="ctr" anchorCtr="0">
              <a:noAutofit/>
            </a:bodyPr>
            <a:lstStyle/>
            <a:p>
              <a:pPr marL="0" lvl="0" indent="0" algn="l" rtl="0">
                <a:spcBef>
                  <a:spcPts val="0"/>
                </a:spcBef>
                <a:spcAft>
                  <a:spcPts val="0"/>
                </a:spcAft>
                <a:buNone/>
              </a:pPr>
            </a:p>
          </p:txBody>
        </p:sp>
        <p:sp>
          <p:nvSpPr>
            <p:cNvPr id="221" name="Google Shape;221;p9"/>
            <p:cNvSpPr txBox="1"/>
            <p:nvPr/>
          </p:nvSpPr>
          <p:spPr>
            <a:xfrm>
              <a:off x="0" y="-57150"/>
              <a:ext cx="2391600" cy="689400"/>
            </a:xfrm>
            <a:prstGeom prst="rect">
              <a:avLst/>
            </a:prstGeom>
            <a:noFill/>
            <a:ln>
              <a:noFill/>
            </a:ln>
          </p:spPr>
          <p:txBody>
            <a:bodyPr spcFirstLastPara="1" wrap="square" lIns="67525" tIns="67525" rIns="67525" bIns="67525" anchor="ctr" anchorCtr="0">
              <a:noAutofit/>
            </a:bodyPr>
            <a:lstStyle/>
            <a:p>
              <a:pPr marL="457200" marR="0" lvl="0" indent="0" algn="l" rtl="0">
                <a:lnSpc>
                  <a:spcPct val="163000"/>
                </a:lnSpc>
                <a:spcBef>
                  <a:spcPts val="0"/>
                </a:spcBef>
                <a:spcAft>
                  <a:spcPts val="0"/>
                </a:spcAft>
                <a:buNone/>
              </a:pPr>
              <a:endParaRPr sz="2395" b="0" i="0" u="none" strike="noStrike" cap="none">
                <a:solidFill>
                  <a:schemeClr val="dk1"/>
                </a:solidFill>
                <a:latin typeface="Calibri"/>
                <a:ea typeface="Calibri"/>
                <a:cs typeface="Calibri"/>
                <a:sym typeface="Calibri"/>
              </a:endParaRPr>
            </a:p>
          </p:txBody>
        </p:sp>
      </p:grpSp>
      <p:sp>
        <p:nvSpPr>
          <p:cNvPr id="222" name="Google Shape;222;p9"/>
          <p:cNvSpPr txBox="1"/>
          <p:nvPr/>
        </p:nvSpPr>
        <p:spPr>
          <a:xfrm>
            <a:off x="265825" y="5905425"/>
            <a:ext cx="8226900" cy="4229700"/>
          </a:xfrm>
          <a:prstGeom prst="rect">
            <a:avLst/>
          </a:prstGeom>
          <a:noFill/>
          <a:ln>
            <a:noFill/>
          </a:ln>
        </p:spPr>
        <p:txBody>
          <a:bodyPr spcFirstLastPara="1" wrap="square" lIns="91425" tIns="91425" rIns="91425" bIns="91425" anchor="ctr" anchorCtr="0">
            <a:noAutofit/>
          </a:bodyPr>
          <a:lstStyle/>
          <a:p>
            <a:pPr marL="457200" lvl="0" indent="-412750" algn="l" rtl="0">
              <a:spcBef>
                <a:spcPts val="0"/>
              </a:spcBef>
              <a:spcAft>
                <a:spcPts val="0"/>
              </a:spcAft>
              <a:buClr>
                <a:srgbClr val="980000"/>
              </a:buClr>
              <a:buSzPts val="2900"/>
              <a:buFont typeface="Calibri"/>
              <a:buChar char="●"/>
            </a:pPr>
            <a:r>
              <a:rPr lang="en-US" sz="2900" b="1">
                <a:solidFill>
                  <a:srgbClr val="980000"/>
                </a:solidFill>
                <a:latin typeface="Calibri"/>
                <a:ea typeface="Calibri"/>
                <a:cs typeface="Calibri"/>
                <a:sym typeface="Calibri"/>
              </a:rPr>
              <a:t>Simple and efficient, suitable as a baseline model</a:t>
            </a:r>
            <a:endParaRPr sz="2900" b="1">
              <a:solidFill>
                <a:srgbClr val="980000"/>
              </a:solidFill>
              <a:latin typeface="Calibri"/>
              <a:ea typeface="Calibri"/>
              <a:cs typeface="Calibri"/>
              <a:sym typeface="Calibri"/>
            </a:endParaRPr>
          </a:p>
          <a:p>
            <a:pPr marL="457200" lvl="0" indent="0" algn="l" rtl="0">
              <a:spcBef>
                <a:spcPts val="0"/>
              </a:spcBef>
              <a:spcAft>
                <a:spcPts val="0"/>
              </a:spcAft>
              <a:buNone/>
            </a:pPr>
            <a:endParaRPr sz="2900" b="1">
              <a:solidFill>
                <a:srgbClr val="980000"/>
              </a:solidFill>
              <a:latin typeface="Calibri"/>
              <a:ea typeface="Calibri"/>
              <a:cs typeface="Calibri"/>
              <a:sym typeface="Calibri"/>
            </a:endParaRPr>
          </a:p>
          <a:p>
            <a:pPr marL="457200" lvl="0" indent="-412750" algn="l" rtl="0">
              <a:spcBef>
                <a:spcPts val="0"/>
              </a:spcBef>
              <a:spcAft>
                <a:spcPts val="0"/>
              </a:spcAft>
              <a:buClr>
                <a:srgbClr val="980000"/>
              </a:buClr>
              <a:buSzPts val="2900"/>
              <a:buFont typeface="Calibri"/>
              <a:buChar char="●"/>
            </a:pPr>
            <a:r>
              <a:rPr lang="en-US" sz="2900" b="1">
                <a:solidFill>
                  <a:srgbClr val="980000"/>
                </a:solidFill>
                <a:latin typeface="Calibri"/>
                <a:ea typeface="Calibri"/>
                <a:cs typeface="Calibri"/>
                <a:sym typeface="Calibri"/>
              </a:rPr>
              <a:t>High interpretability, facilitating the analysis of feature impacts</a:t>
            </a:r>
            <a:endParaRPr sz="2900" b="1">
              <a:solidFill>
                <a:srgbClr val="980000"/>
              </a:solidFill>
              <a:latin typeface="Calibri"/>
              <a:ea typeface="Calibri"/>
              <a:cs typeface="Calibri"/>
              <a:sym typeface="Calibri"/>
            </a:endParaRPr>
          </a:p>
          <a:p>
            <a:pPr marL="457200" lvl="0" indent="0" algn="l" rtl="0">
              <a:spcBef>
                <a:spcPts val="0"/>
              </a:spcBef>
              <a:spcAft>
                <a:spcPts val="0"/>
              </a:spcAft>
              <a:buNone/>
            </a:pPr>
            <a:endParaRPr sz="2900" b="1">
              <a:solidFill>
                <a:srgbClr val="980000"/>
              </a:solidFill>
              <a:latin typeface="Calibri"/>
              <a:ea typeface="Calibri"/>
              <a:cs typeface="Calibri"/>
              <a:sym typeface="Calibri"/>
            </a:endParaRPr>
          </a:p>
          <a:p>
            <a:pPr marL="457200" lvl="0" indent="-412750" algn="l" rtl="0">
              <a:spcBef>
                <a:spcPts val="0"/>
              </a:spcBef>
              <a:spcAft>
                <a:spcPts val="0"/>
              </a:spcAft>
              <a:buClr>
                <a:srgbClr val="980000"/>
              </a:buClr>
              <a:buSzPts val="2900"/>
              <a:buFont typeface="Calibri"/>
              <a:buChar char="●"/>
            </a:pPr>
            <a:r>
              <a:rPr lang="en-US" sz="2900" b="1">
                <a:solidFill>
                  <a:srgbClr val="980000"/>
                </a:solidFill>
                <a:latin typeface="Calibri"/>
                <a:ea typeface="Calibri"/>
                <a:cs typeface="Calibri"/>
                <a:sym typeface="Calibri"/>
              </a:rPr>
              <a:t>Suitable for processing data with approximate linear relationships</a:t>
            </a:r>
            <a:endParaRPr sz="2900" b="1">
              <a:solidFill>
                <a:srgbClr val="98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228" name="Google Shape;228;p10"/>
          <p:cNvSpPr/>
          <p:nvPr/>
        </p:nvSpPr>
        <p:spPr>
          <a:xfrm>
            <a:off x="15005339" y="6293632"/>
            <a:ext cx="6017177" cy="5929335"/>
          </a:xfrm>
          <a:custGeom>
            <a:avLst/>
            <a:gdLst/>
            <a:ahLst/>
            <a:cxnLst/>
            <a:rect l="l" t="t" r="r" b="b"/>
            <a:pathLst>
              <a:path w="6017177" h="5929335" extrusionOk="0">
                <a:moveTo>
                  <a:pt x="0" y="0"/>
                </a:moveTo>
                <a:lnTo>
                  <a:pt x="6017177" y="0"/>
                </a:lnTo>
                <a:lnTo>
                  <a:pt x="6017177" y="5929336"/>
                </a:lnTo>
                <a:lnTo>
                  <a:pt x="0" y="5929336"/>
                </a:lnTo>
                <a:lnTo>
                  <a:pt x="0" y="0"/>
                </a:lnTo>
                <a:close/>
              </a:path>
            </a:pathLst>
          </a:custGeom>
          <a:blipFill rotWithShape="1">
            <a:blip r:embed="rId2"/>
            <a:stretch>
              <a:fillRect/>
            </a:stretch>
          </a:blipFill>
          <a:ln>
            <a:noFill/>
          </a:ln>
        </p:spPr>
      </p:sp>
      <p:sp>
        <p:nvSpPr>
          <p:cNvPr id="229" name="Google Shape;229;p10"/>
          <p:cNvSpPr/>
          <p:nvPr/>
        </p:nvSpPr>
        <p:spPr>
          <a:xfrm>
            <a:off x="-1861792" y="-1069654"/>
            <a:ext cx="4258882" cy="4196709"/>
          </a:xfrm>
          <a:custGeom>
            <a:avLst/>
            <a:gdLst/>
            <a:ahLst/>
            <a:cxnLst/>
            <a:rect l="l" t="t" r="r" b="b"/>
            <a:pathLst>
              <a:path w="4258882" h="4196709" extrusionOk="0">
                <a:moveTo>
                  <a:pt x="0" y="0"/>
                </a:moveTo>
                <a:lnTo>
                  <a:pt x="4258883" y="0"/>
                </a:lnTo>
                <a:lnTo>
                  <a:pt x="4258883" y="4196708"/>
                </a:lnTo>
                <a:lnTo>
                  <a:pt x="0" y="4196708"/>
                </a:lnTo>
                <a:lnTo>
                  <a:pt x="0" y="0"/>
                </a:lnTo>
                <a:close/>
              </a:path>
            </a:pathLst>
          </a:custGeom>
          <a:blipFill rotWithShape="1">
            <a:blip r:embed="rId2"/>
            <a:stretch>
              <a:fillRect/>
            </a:stretch>
          </a:blipFill>
          <a:ln>
            <a:noFill/>
          </a:ln>
        </p:spPr>
      </p:sp>
      <p:grpSp>
        <p:nvGrpSpPr>
          <p:cNvPr id="230" name="Google Shape;230;p10"/>
          <p:cNvGrpSpPr/>
          <p:nvPr/>
        </p:nvGrpSpPr>
        <p:grpSpPr>
          <a:xfrm>
            <a:off x="568350" y="965728"/>
            <a:ext cx="17151425" cy="9135147"/>
            <a:chOff x="0" y="-57150"/>
            <a:chExt cx="4517218" cy="2143495"/>
          </a:xfrm>
        </p:grpSpPr>
        <p:sp>
          <p:nvSpPr>
            <p:cNvPr id="231" name="Google Shape;231;p10"/>
            <p:cNvSpPr/>
            <p:nvPr/>
          </p:nvSpPr>
          <p:spPr>
            <a:xfrm>
              <a:off x="0" y="0"/>
              <a:ext cx="4517218" cy="2086345"/>
            </a:xfrm>
            <a:custGeom>
              <a:avLst/>
              <a:gdLst/>
              <a:ahLst/>
              <a:cxnLst/>
              <a:rect l="l" t="t" r="r" b="b"/>
              <a:pathLst>
                <a:path w="4517218" h="2086345" extrusionOk="0">
                  <a:moveTo>
                    <a:pt x="15347" y="0"/>
                  </a:moveTo>
                  <a:lnTo>
                    <a:pt x="4501871" y="0"/>
                  </a:lnTo>
                  <a:cubicBezTo>
                    <a:pt x="4510346" y="0"/>
                    <a:pt x="4517218" y="6871"/>
                    <a:pt x="4517218" y="15347"/>
                  </a:cubicBezTo>
                  <a:lnTo>
                    <a:pt x="4517218" y="2070997"/>
                  </a:lnTo>
                  <a:cubicBezTo>
                    <a:pt x="4517218" y="2075068"/>
                    <a:pt x="4515601" y="2078972"/>
                    <a:pt x="4512723" y="2081850"/>
                  </a:cubicBezTo>
                  <a:cubicBezTo>
                    <a:pt x="4509844" y="2084728"/>
                    <a:pt x="4505941" y="2086345"/>
                    <a:pt x="4501871" y="2086345"/>
                  </a:cubicBezTo>
                  <a:lnTo>
                    <a:pt x="15347" y="2086345"/>
                  </a:lnTo>
                  <a:cubicBezTo>
                    <a:pt x="11277" y="2086345"/>
                    <a:pt x="7373" y="2084728"/>
                    <a:pt x="4495" y="2081850"/>
                  </a:cubicBezTo>
                  <a:cubicBezTo>
                    <a:pt x="1617" y="2078972"/>
                    <a:pt x="0" y="2075068"/>
                    <a:pt x="0" y="2070997"/>
                  </a:cubicBezTo>
                  <a:lnTo>
                    <a:pt x="0" y="15347"/>
                  </a:lnTo>
                  <a:cubicBezTo>
                    <a:pt x="0" y="11277"/>
                    <a:pt x="1617" y="7373"/>
                    <a:pt x="4495" y="4495"/>
                  </a:cubicBezTo>
                  <a:cubicBezTo>
                    <a:pt x="7373" y="1617"/>
                    <a:pt x="11277" y="0"/>
                    <a:pt x="15347"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10"/>
            <p:cNvSpPr txBox="1"/>
            <p:nvPr/>
          </p:nvSpPr>
          <p:spPr>
            <a:xfrm>
              <a:off x="0" y="-57150"/>
              <a:ext cx="4517218" cy="2143495"/>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10"/>
          <p:cNvSpPr txBox="1"/>
          <p:nvPr/>
        </p:nvSpPr>
        <p:spPr>
          <a:xfrm>
            <a:off x="2397100" y="956250"/>
            <a:ext cx="13438200" cy="1049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6815">
                <a:solidFill>
                  <a:srgbClr val="CD4146"/>
                </a:solidFill>
                <a:latin typeface="Oswald"/>
                <a:ea typeface="Oswald"/>
                <a:cs typeface="Oswald"/>
                <a:sym typeface="Oswald"/>
              </a:rPr>
              <a:t>linear Regression </a:t>
            </a:r>
            <a:r>
              <a:rPr lang="en-US" sz="6815">
                <a:solidFill>
                  <a:srgbClr val="CD4146"/>
                </a:solidFill>
                <a:latin typeface="Oswald"/>
                <a:ea typeface="Oswald"/>
                <a:cs typeface="Oswald"/>
                <a:sym typeface="Oswald"/>
              </a:rPr>
              <a:t>prediction</a:t>
            </a:r>
            <a:r>
              <a:rPr lang="en-US" sz="6815">
                <a:solidFill>
                  <a:srgbClr val="CD4146"/>
                </a:solidFill>
                <a:latin typeface="Oswald"/>
                <a:ea typeface="Oswald"/>
                <a:cs typeface="Oswald"/>
                <a:sym typeface="Oswald"/>
              </a:rPr>
              <a:t> results</a:t>
            </a:r>
            <a:endParaRPr sz="6815" b="0" i="0" u="none" strike="noStrike" cap="none">
              <a:solidFill>
                <a:srgbClr val="CD4146"/>
              </a:solidFill>
              <a:latin typeface="Oswald"/>
              <a:ea typeface="Oswald"/>
              <a:cs typeface="Oswald"/>
              <a:sym typeface="Oswald"/>
            </a:endParaRPr>
          </a:p>
        </p:txBody>
      </p:sp>
      <p:sp>
        <p:nvSpPr>
          <p:cNvPr id="234" name="Google Shape;234;p10"/>
          <p:cNvSpPr txBox="1"/>
          <p:nvPr/>
        </p:nvSpPr>
        <p:spPr>
          <a:xfrm>
            <a:off x="1055325" y="2804150"/>
            <a:ext cx="84186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35" name="Google Shape;235;p10"/>
          <p:cNvSpPr txBox="1"/>
          <p:nvPr/>
        </p:nvSpPr>
        <p:spPr>
          <a:xfrm>
            <a:off x="2397091" y="5802412"/>
            <a:ext cx="7410900" cy="323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36" name="Google Shape;236;p10"/>
          <p:cNvSpPr/>
          <p:nvPr/>
        </p:nvSpPr>
        <p:spPr>
          <a:xfrm>
            <a:off x="1646725" y="2661375"/>
            <a:ext cx="5570400" cy="2330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40000"/>
              </a:lnSpc>
              <a:spcBef>
                <a:spcPts val="0"/>
              </a:spcBef>
              <a:spcAft>
                <a:spcPts val="0"/>
              </a:spcAft>
              <a:buNone/>
            </a:pPr>
            <a:endParaRPr sz="2500" b="1">
              <a:solidFill>
                <a:srgbClr val="980000"/>
              </a:solidFill>
            </a:endParaRPr>
          </a:p>
          <a:p>
            <a:pPr marL="0" lvl="0" indent="0" algn="just" rtl="0">
              <a:lnSpc>
                <a:spcPct val="140000"/>
              </a:lnSpc>
              <a:spcBef>
                <a:spcPts val="0"/>
              </a:spcBef>
              <a:spcAft>
                <a:spcPts val="0"/>
              </a:spcAft>
              <a:buNone/>
            </a:pPr>
            <a:endParaRPr sz="2500" b="1">
              <a:solidFill>
                <a:srgbClr val="980000"/>
              </a:solidFill>
            </a:endParaRPr>
          </a:p>
          <a:p>
            <a:pPr marL="0" lvl="0" indent="0" algn="just" rtl="0">
              <a:lnSpc>
                <a:spcPct val="140000"/>
              </a:lnSpc>
              <a:spcBef>
                <a:spcPts val="0"/>
              </a:spcBef>
              <a:spcAft>
                <a:spcPts val="0"/>
              </a:spcAft>
              <a:buNone/>
            </a:pPr>
            <a:r>
              <a:rPr lang="en-US" sz="2500" b="1">
                <a:solidFill>
                  <a:srgbClr val="980000"/>
                </a:solidFill>
              </a:rPr>
              <a:t>R² = 0.833</a:t>
            </a:r>
            <a:br>
              <a:rPr lang="en-US" sz="2500" b="1">
                <a:solidFill>
                  <a:srgbClr val="980000"/>
                </a:solidFill>
              </a:rPr>
            </a:br>
            <a:r>
              <a:rPr lang="en-US" sz="2500" b="1">
                <a:solidFill>
                  <a:srgbClr val="980000"/>
                </a:solidFill>
              </a:rPr>
              <a:t>MAE = $94758.56</a:t>
            </a:r>
            <a:br>
              <a:rPr lang="en-US" sz="2500" b="1">
                <a:solidFill>
                  <a:srgbClr val="980000"/>
                </a:solidFill>
              </a:rPr>
            </a:br>
            <a:r>
              <a:rPr lang="en-US" sz="2500" b="1">
                <a:solidFill>
                  <a:srgbClr val="980000"/>
                </a:solidFill>
              </a:rPr>
              <a:t>RMSE = $167344.79</a:t>
            </a:r>
            <a:br>
              <a:rPr lang="en-US" sz="2500" b="1">
                <a:solidFill>
                  <a:srgbClr val="980000"/>
                </a:solidFill>
              </a:rPr>
            </a:br>
            <a:r>
              <a:rPr lang="en-US" sz="2500" b="1">
                <a:solidFill>
                  <a:srgbClr val="980000"/>
                </a:solidFill>
              </a:rPr>
              <a:t>MAPE = 17.236</a:t>
            </a:r>
            <a:br>
              <a:rPr lang="en-US" sz="2100" b="1">
                <a:solidFill>
                  <a:schemeClr val="dk1"/>
                </a:solidFill>
              </a:rPr>
            </a:br>
            <a:endParaRPr sz="2100" b="1">
              <a:solidFill>
                <a:schemeClr val="dk1"/>
              </a:solidFill>
            </a:endParaRPr>
          </a:p>
          <a:p>
            <a:pPr marL="0" lvl="0" indent="0" algn="just" rtl="0">
              <a:lnSpc>
                <a:spcPct val="140000"/>
              </a:lnSpc>
              <a:spcBef>
                <a:spcPts val="0"/>
              </a:spcBef>
              <a:spcAft>
                <a:spcPts val="0"/>
              </a:spcAft>
              <a:buNone/>
            </a:pPr>
            <a:endParaRPr sz="2100">
              <a:solidFill>
                <a:srgbClr val="CD4146"/>
              </a:solidFill>
              <a:latin typeface="Poppins" panose="00000500000000000000"/>
              <a:ea typeface="Poppins" panose="00000500000000000000"/>
              <a:cs typeface="Poppins" panose="00000500000000000000"/>
              <a:sym typeface="Poppins" panose="00000500000000000000"/>
            </a:endParaRPr>
          </a:p>
        </p:txBody>
      </p:sp>
      <p:pic>
        <p:nvPicPr>
          <p:cNvPr id="237" name="Google Shape;237;p10" title="截屏2026-05-02 20.30.01.png"/>
          <p:cNvPicPr preferRelativeResize="0"/>
          <p:nvPr/>
        </p:nvPicPr>
        <p:blipFill>
          <a:blip r:embed="rId3"/>
          <a:stretch>
            <a:fillRect/>
          </a:stretch>
        </p:blipFill>
        <p:spPr>
          <a:xfrm>
            <a:off x="1646725" y="5136324"/>
            <a:ext cx="4258899" cy="4455455"/>
          </a:xfrm>
          <a:prstGeom prst="rect">
            <a:avLst/>
          </a:prstGeom>
          <a:noFill/>
          <a:ln>
            <a:noFill/>
          </a:ln>
        </p:spPr>
      </p:pic>
      <p:pic>
        <p:nvPicPr>
          <p:cNvPr id="238" name="Google Shape;238;p10" title="截屏2026-05-02 20.30.27.png"/>
          <p:cNvPicPr preferRelativeResize="0"/>
          <p:nvPr/>
        </p:nvPicPr>
        <p:blipFill>
          <a:blip r:embed="rId4"/>
          <a:stretch>
            <a:fillRect/>
          </a:stretch>
        </p:blipFill>
        <p:spPr>
          <a:xfrm>
            <a:off x="9936750" y="2661375"/>
            <a:ext cx="7410901" cy="4356753"/>
          </a:xfrm>
          <a:prstGeom prst="rect">
            <a:avLst/>
          </a:prstGeom>
          <a:noFill/>
          <a:ln>
            <a:noFill/>
          </a:ln>
        </p:spPr>
      </p:pic>
      <p:sp>
        <p:nvSpPr>
          <p:cNvPr id="239" name="Google Shape;239;p10"/>
          <p:cNvSpPr txBox="1"/>
          <p:nvPr/>
        </p:nvSpPr>
        <p:spPr>
          <a:xfrm>
            <a:off x="7657100" y="7138275"/>
            <a:ext cx="10062600" cy="28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40" name="Google Shape;240;p10"/>
          <p:cNvSpPr txBox="1"/>
          <p:nvPr/>
        </p:nvSpPr>
        <p:spPr>
          <a:xfrm>
            <a:off x="7782350" y="7263525"/>
            <a:ext cx="9937500" cy="2665800"/>
          </a:xfrm>
          <a:prstGeom prst="rect">
            <a:avLst/>
          </a:prstGeom>
          <a:noFill/>
          <a:ln>
            <a:noFill/>
          </a:ln>
        </p:spPr>
        <p:txBody>
          <a:bodyPr spcFirstLastPara="1" wrap="square" lIns="91425" tIns="91425" rIns="91425" bIns="91425" anchor="t" anchorCtr="0">
            <a:noAutofit/>
          </a:bodyPr>
          <a:lstStyle/>
          <a:p>
            <a:pPr marL="457200" lvl="0" indent="-400050" algn="l" rtl="0">
              <a:spcBef>
                <a:spcPts val="0"/>
              </a:spcBef>
              <a:spcAft>
                <a:spcPts val="0"/>
              </a:spcAft>
              <a:buClr>
                <a:srgbClr val="980000"/>
              </a:buClr>
              <a:buSzPts val="2700"/>
              <a:buFont typeface="Calibri"/>
              <a:buChar char="●"/>
            </a:pPr>
            <a:r>
              <a:rPr lang="en-US" sz="2700">
                <a:solidFill>
                  <a:srgbClr val="980000"/>
                </a:solidFill>
                <a:latin typeface="Calibri"/>
                <a:ea typeface="Calibri"/>
                <a:cs typeface="Calibri"/>
                <a:sym typeface="Calibri"/>
              </a:rPr>
              <a:t>The model has a good fitting effect and strong  interpretability.</a:t>
            </a:r>
            <a:endParaRPr sz="2700">
              <a:solidFill>
                <a:srgbClr val="980000"/>
              </a:solidFill>
              <a:latin typeface="Calibri"/>
              <a:ea typeface="Calibri"/>
              <a:cs typeface="Calibri"/>
              <a:sym typeface="Calibri"/>
            </a:endParaRPr>
          </a:p>
          <a:p>
            <a:pPr marL="457200" lvl="0" indent="0" algn="l" rtl="0">
              <a:spcBef>
                <a:spcPts val="0"/>
              </a:spcBef>
              <a:spcAft>
                <a:spcPts val="0"/>
              </a:spcAft>
              <a:buNone/>
            </a:pPr>
            <a:endParaRPr sz="2700">
              <a:solidFill>
                <a:srgbClr val="980000"/>
              </a:solidFill>
              <a:latin typeface="Calibri"/>
              <a:ea typeface="Calibri"/>
              <a:cs typeface="Calibri"/>
              <a:sym typeface="Calibri"/>
            </a:endParaRPr>
          </a:p>
          <a:p>
            <a:pPr marL="457200" lvl="0" indent="-400050" algn="l" rtl="0">
              <a:spcBef>
                <a:spcPts val="0"/>
              </a:spcBef>
              <a:spcAft>
                <a:spcPts val="0"/>
              </a:spcAft>
              <a:buClr>
                <a:srgbClr val="980000"/>
              </a:buClr>
              <a:buSzPts val="2700"/>
              <a:buFont typeface="Calibri"/>
              <a:buChar char="●"/>
            </a:pPr>
            <a:r>
              <a:rPr lang="en-US" sz="2700">
                <a:solidFill>
                  <a:srgbClr val="980000"/>
                </a:solidFill>
                <a:latin typeface="Calibri"/>
                <a:ea typeface="Calibri"/>
                <a:cs typeface="Calibri"/>
                <a:sym typeface="Calibri"/>
              </a:rPr>
              <a:t>lat,grade,yr_bulit,sqft_living are key factors affecting housing prices in reality.</a:t>
            </a:r>
            <a:endParaRPr sz="2700">
              <a:solidFill>
                <a:srgbClr val="980000"/>
              </a:solidFill>
              <a:latin typeface="Calibri"/>
              <a:ea typeface="Calibri"/>
              <a:cs typeface="Calibri"/>
              <a:sym typeface="Calibri"/>
            </a:endParaRPr>
          </a:p>
          <a:p>
            <a:pPr marL="0" lvl="0" indent="0" algn="l" rtl="0">
              <a:spcBef>
                <a:spcPts val="0"/>
              </a:spcBef>
              <a:spcAft>
                <a:spcPts val="0"/>
              </a:spcAft>
              <a:buNone/>
            </a:pPr>
            <a:endParaRPr sz="3000">
              <a:solidFill>
                <a:srgbClr val="980000"/>
              </a:solidFill>
              <a:latin typeface="Calibri"/>
              <a:ea typeface="Calibri"/>
              <a:cs typeface="Calibri"/>
              <a:sym typeface="Calibri"/>
            </a:endParaRPr>
          </a:p>
          <a:p>
            <a:pPr marL="457200" lvl="0" indent="-419100" algn="l" rtl="0">
              <a:spcBef>
                <a:spcPts val="0"/>
              </a:spcBef>
              <a:spcAft>
                <a:spcPts val="0"/>
              </a:spcAft>
              <a:buClr>
                <a:srgbClr val="980000"/>
              </a:buClr>
              <a:buSzPts val="3000"/>
              <a:buFont typeface="Calibri"/>
              <a:buChar char="●"/>
            </a:pPr>
            <a:r>
              <a:rPr lang="en-US" sz="3000">
                <a:solidFill>
                  <a:srgbClr val="980000"/>
                </a:solidFill>
                <a:latin typeface="Calibri"/>
                <a:ea typeface="Calibri"/>
                <a:cs typeface="Calibri"/>
                <a:sym typeface="Calibri"/>
              </a:rPr>
              <a:t> </a:t>
            </a:r>
            <a:r>
              <a:rPr lang="en-US" sz="3000">
                <a:solidFill>
                  <a:srgbClr val="980000"/>
                </a:solidFill>
                <a:latin typeface="Calibri"/>
                <a:ea typeface="Calibri"/>
                <a:cs typeface="Calibri"/>
                <a:sym typeface="Calibri"/>
              </a:rPr>
              <a:t>Large prediction error for high-priced housing</a:t>
            </a:r>
            <a:endParaRPr sz="3000">
              <a:solidFill>
                <a:srgbClr val="980000"/>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panose="020B0704020202020204"/>
              <a:buNone/>
            </a:pPr>
            <a:endParaRPr sz="1100" b="1">
              <a:solidFill>
                <a:schemeClr val="dk1"/>
              </a:solidFill>
            </a:endParaRPr>
          </a:p>
          <a:p>
            <a:pPr marL="0" lvl="0" indent="0" algn="l" rtl="0">
              <a:spcBef>
                <a:spcPts val="0"/>
              </a:spcBef>
              <a:spcAft>
                <a:spcPts val="0"/>
              </a:spcAft>
              <a:buNone/>
            </a:pPr>
            <a:endParaRPr sz="3000">
              <a:solidFill>
                <a:srgbClr val="98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1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246" name="Google Shape;246;p11"/>
          <p:cNvSpPr/>
          <p:nvPr/>
        </p:nvSpPr>
        <p:spPr>
          <a:xfrm>
            <a:off x="14467170" y="-3194657"/>
            <a:ext cx="6637037" cy="6540146"/>
          </a:xfrm>
          <a:custGeom>
            <a:avLst/>
            <a:gdLst/>
            <a:ahLst/>
            <a:cxnLst/>
            <a:rect l="l" t="t" r="r" b="b"/>
            <a:pathLst>
              <a:path w="6637037" h="6540146" extrusionOk="0">
                <a:moveTo>
                  <a:pt x="0" y="0"/>
                </a:moveTo>
                <a:lnTo>
                  <a:pt x="6637037" y="0"/>
                </a:lnTo>
                <a:lnTo>
                  <a:pt x="6637037" y="6540146"/>
                </a:lnTo>
                <a:lnTo>
                  <a:pt x="0" y="6540146"/>
                </a:lnTo>
                <a:lnTo>
                  <a:pt x="0" y="0"/>
                </a:lnTo>
                <a:close/>
              </a:path>
            </a:pathLst>
          </a:custGeom>
          <a:blipFill rotWithShape="1">
            <a:blip r:embed="rId2"/>
            <a:stretch>
              <a:fillRect/>
            </a:stretch>
          </a:blipFill>
          <a:ln>
            <a:noFill/>
          </a:ln>
        </p:spPr>
      </p:sp>
      <p:sp>
        <p:nvSpPr>
          <p:cNvPr id="247" name="Google Shape;247;p11"/>
          <p:cNvSpPr/>
          <p:nvPr/>
        </p:nvSpPr>
        <p:spPr>
          <a:xfrm>
            <a:off x="-4388608" y="6714885"/>
            <a:ext cx="6637037" cy="6540146"/>
          </a:xfrm>
          <a:custGeom>
            <a:avLst/>
            <a:gdLst/>
            <a:ahLst/>
            <a:cxnLst/>
            <a:rect l="l" t="t" r="r" b="b"/>
            <a:pathLst>
              <a:path w="6637037" h="6540146" extrusionOk="0">
                <a:moveTo>
                  <a:pt x="0" y="0"/>
                </a:moveTo>
                <a:lnTo>
                  <a:pt x="6637037" y="0"/>
                </a:lnTo>
                <a:lnTo>
                  <a:pt x="6637037" y="6540146"/>
                </a:lnTo>
                <a:lnTo>
                  <a:pt x="0" y="6540146"/>
                </a:lnTo>
                <a:lnTo>
                  <a:pt x="0" y="0"/>
                </a:lnTo>
                <a:close/>
              </a:path>
            </a:pathLst>
          </a:custGeom>
          <a:blipFill rotWithShape="1">
            <a:blip r:embed="rId2"/>
            <a:stretch>
              <a:fillRect/>
            </a:stretch>
          </a:blipFill>
          <a:ln>
            <a:noFill/>
          </a:ln>
        </p:spPr>
      </p:sp>
      <p:grpSp>
        <p:nvGrpSpPr>
          <p:cNvPr id="248" name="Google Shape;248;p11"/>
          <p:cNvGrpSpPr/>
          <p:nvPr/>
        </p:nvGrpSpPr>
        <p:grpSpPr>
          <a:xfrm>
            <a:off x="813433" y="811707"/>
            <a:ext cx="16661245" cy="8446648"/>
            <a:chOff x="0" y="-57150"/>
            <a:chExt cx="4388118" cy="2224617"/>
          </a:xfrm>
        </p:grpSpPr>
        <p:sp>
          <p:nvSpPr>
            <p:cNvPr id="249" name="Google Shape;249;p11"/>
            <p:cNvSpPr/>
            <p:nvPr/>
          </p:nvSpPr>
          <p:spPr>
            <a:xfrm>
              <a:off x="0" y="0"/>
              <a:ext cx="4388118" cy="2167467"/>
            </a:xfrm>
            <a:custGeom>
              <a:avLst/>
              <a:gdLst/>
              <a:ahLst/>
              <a:cxnLst/>
              <a:rect l="l" t="t" r="r" b="b"/>
              <a:pathLst>
                <a:path w="4388118" h="2167467" extrusionOk="0">
                  <a:moveTo>
                    <a:pt x="23698" y="0"/>
                  </a:moveTo>
                  <a:lnTo>
                    <a:pt x="4364420" y="0"/>
                  </a:lnTo>
                  <a:cubicBezTo>
                    <a:pt x="4370705" y="0"/>
                    <a:pt x="4376732" y="2497"/>
                    <a:pt x="4381177" y="6941"/>
                  </a:cubicBezTo>
                  <a:cubicBezTo>
                    <a:pt x="4385621" y="11385"/>
                    <a:pt x="4388118" y="17413"/>
                    <a:pt x="4388118" y="23698"/>
                  </a:cubicBezTo>
                  <a:lnTo>
                    <a:pt x="4388118" y="2143769"/>
                  </a:lnTo>
                  <a:cubicBezTo>
                    <a:pt x="4388118" y="2156857"/>
                    <a:pt x="4377508" y="2167467"/>
                    <a:pt x="4364420" y="2167467"/>
                  </a:cubicBezTo>
                  <a:lnTo>
                    <a:pt x="23698" y="2167467"/>
                  </a:lnTo>
                  <a:cubicBezTo>
                    <a:pt x="17413" y="2167467"/>
                    <a:pt x="11385" y="2164970"/>
                    <a:pt x="6941" y="2160526"/>
                  </a:cubicBezTo>
                  <a:cubicBezTo>
                    <a:pt x="2497" y="2156081"/>
                    <a:pt x="0" y="2150054"/>
                    <a:pt x="0" y="2143769"/>
                  </a:cubicBezTo>
                  <a:lnTo>
                    <a:pt x="0" y="23698"/>
                  </a:lnTo>
                  <a:cubicBezTo>
                    <a:pt x="0" y="10610"/>
                    <a:pt x="10610" y="0"/>
                    <a:pt x="23698"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11"/>
            <p:cNvSpPr txBox="1"/>
            <p:nvPr/>
          </p:nvSpPr>
          <p:spPr>
            <a:xfrm>
              <a:off x="0" y="-57150"/>
              <a:ext cx="4388100" cy="22245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1" name="Google Shape;251;p11"/>
          <p:cNvSpPr txBox="1"/>
          <p:nvPr/>
        </p:nvSpPr>
        <p:spPr>
          <a:xfrm>
            <a:off x="3255645" y="1421130"/>
            <a:ext cx="12726670" cy="146875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815">
                <a:solidFill>
                  <a:srgbClr val="CD4146"/>
                </a:solidFill>
                <a:latin typeface="Oswald"/>
                <a:ea typeface="Oswald"/>
                <a:cs typeface="Oswald"/>
                <a:sym typeface="Oswald"/>
              </a:rPr>
              <a:t>Comparison of Three Models</a:t>
            </a:r>
            <a:endParaRPr sz="6815" b="0" i="0" u="none" strike="noStrike" cap="none">
              <a:solidFill>
                <a:srgbClr val="CD4146"/>
              </a:solidFill>
              <a:latin typeface="Oswald"/>
              <a:ea typeface="Oswald"/>
              <a:cs typeface="Oswald"/>
              <a:sym typeface="Oswald"/>
            </a:endParaRPr>
          </a:p>
        </p:txBody>
      </p:sp>
      <p:sp>
        <p:nvSpPr>
          <p:cNvPr id="252" name="Google Shape;252;p11"/>
          <p:cNvSpPr txBox="1"/>
          <p:nvPr/>
        </p:nvSpPr>
        <p:spPr>
          <a:xfrm>
            <a:off x="2500746" y="2920850"/>
            <a:ext cx="5013300" cy="428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85" b="1">
                <a:solidFill>
                  <a:srgbClr val="CD4146"/>
                </a:solidFill>
                <a:latin typeface="Poppins" panose="00000500000000000000"/>
                <a:ea typeface="Poppins" panose="00000500000000000000"/>
                <a:cs typeface="Poppins" panose="00000500000000000000"/>
                <a:sym typeface="Poppins" panose="00000500000000000000"/>
              </a:rPr>
              <a:t>Accuracy Comparison</a:t>
            </a:r>
            <a:endParaRPr sz="2785" b="1"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3" name="Google Shape;253;p11"/>
          <p:cNvSpPr txBox="1"/>
          <p:nvPr/>
        </p:nvSpPr>
        <p:spPr>
          <a:xfrm>
            <a:off x="2248434" y="3453727"/>
            <a:ext cx="6300300" cy="20289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000" b="1">
                <a:solidFill>
                  <a:srgbClr val="CD4146"/>
                </a:solidFill>
                <a:latin typeface="Poppins" panose="00000500000000000000"/>
                <a:ea typeface="Poppins" panose="00000500000000000000"/>
                <a:cs typeface="Poppins" panose="00000500000000000000"/>
                <a:sym typeface="Poppins" panose="00000500000000000000"/>
              </a:rPr>
              <a:t>XGBoost &gt; Random Forest &gt; Linear Regression.</a:t>
            </a:r>
            <a:r>
              <a:rPr lang="en-US" sz="2000">
                <a:solidFill>
                  <a:srgbClr val="CD4146"/>
                </a:solidFill>
                <a:latin typeface="Poppins" panose="00000500000000000000"/>
                <a:ea typeface="Poppins" panose="00000500000000000000"/>
                <a:cs typeface="Poppins" panose="00000500000000000000"/>
                <a:sym typeface="Poppins" panose="00000500000000000000"/>
              </a:rPr>
              <a:t> XGBoost usually achieves the highest accuracy through gradient boosting. Random Forest also performs well through ensemble learning, while Linear Regression is weaker with nonlinear data.</a:t>
            </a:r>
            <a:endParaRPr sz="20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4" name="Google Shape;254;p11"/>
          <p:cNvSpPr txBox="1"/>
          <p:nvPr/>
        </p:nvSpPr>
        <p:spPr>
          <a:xfrm>
            <a:off x="2500759" y="5780212"/>
            <a:ext cx="3483300" cy="428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85" b="1">
                <a:solidFill>
                  <a:srgbClr val="CD4146"/>
                </a:solidFill>
                <a:latin typeface="Poppins" panose="00000500000000000000"/>
                <a:ea typeface="Poppins" panose="00000500000000000000"/>
                <a:cs typeface="Poppins" panose="00000500000000000000"/>
                <a:sym typeface="Poppins" panose="00000500000000000000"/>
              </a:rPr>
              <a:t>Training Time</a:t>
            </a:r>
            <a:endParaRPr sz="2785" b="1"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5" name="Google Shape;255;p11"/>
          <p:cNvSpPr txBox="1"/>
          <p:nvPr/>
        </p:nvSpPr>
        <p:spPr>
          <a:xfrm>
            <a:off x="2248425" y="6427025"/>
            <a:ext cx="6636900" cy="20289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000" b="1">
                <a:solidFill>
                  <a:srgbClr val="CD4146"/>
                </a:solidFill>
                <a:latin typeface="Poppins" panose="00000500000000000000"/>
                <a:ea typeface="Poppins" panose="00000500000000000000"/>
                <a:cs typeface="Poppins" panose="00000500000000000000"/>
                <a:sym typeface="Poppins" panose="00000500000000000000"/>
              </a:rPr>
              <a:t>Linear Regression &lt; Random Forest &lt; XGBoost. </a:t>
            </a:r>
            <a:endParaRPr sz="2000" b="1">
              <a:solidFill>
                <a:srgbClr val="CD4146"/>
              </a:solidFill>
              <a:latin typeface="Poppins" panose="00000500000000000000"/>
              <a:ea typeface="Poppins" panose="00000500000000000000"/>
              <a:cs typeface="Poppins" panose="00000500000000000000"/>
              <a:sym typeface="Poppins" panose="00000500000000000000"/>
            </a:endParaRPr>
          </a:p>
          <a:p>
            <a:pPr marL="0" marR="0" lvl="0" indent="0" algn="just" rtl="0">
              <a:lnSpc>
                <a:spcPct val="140000"/>
              </a:lnSpc>
              <a:spcBef>
                <a:spcPts val="0"/>
              </a:spcBef>
              <a:spcAft>
                <a:spcPts val="0"/>
              </a:spcAft>
              <a:buNone/>
            </a:pPr>
            <a:r>
              <a:rPr lang="en-US" sz="2000">
                <a:solidFill>
                  <a:srgbClr val="CD4146"/>
                </a:solidFill>
                <a:latin typeface="Poppins" panose="00000500000000000000"/>
                <a:ea typeface="Poppins" panose="00000500000000000000"/>
                <a:cs typeface="Poppins" panose="00000500000000000000"/>
                <a:sym typeface="Poppins" panose="00000500000000000000"/>
              </a:rPr>
              <a:t>Linear Regression is simple and trains the fastest. Random Forest builds many decision trees. XGBoost is more time-consuming because of iterative optimization, but GPU acceleration can help.</a:t>
            </a:r>
            <a:endParaRPr sz="20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6" name="Google Shape;256;p11"/>
          <p:cNvSpPr txBox="1"/>
          <p:nvPr/>
        </p:nvSpPr>
        <p:spPr>
          <a:xfrm>
            <a:off x="10496577" y="2889128"/>
            <a:ext cx="3483300" cy="428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85" b="1">
                <a:solidFill>
                  <a:srgbClr val="CD4146"/>
                </a:solidFill>
                <a:latin typeface="Poppins" panose="00000500000000000000"/>
                <a:ea typeface="Poppins" panose="00000500000000000000"/>
                <a:cs typeface="Poppins" panose="00000500000000000000"/>
                <a:sym typeface="Poppins" panose="00000500000000000000"/>
              </a:rPr>
              <a:t>Interpretability</a:t>
            </a:r>
            <a:endParaRPr sz="2785" b="1"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7" name="Google Shape;257;p11"/>
          <p:cNvSpPr txBox="1"/>
          <p:nvPr/>
        </p:nvSpPr>
        <p:spPr>
          <a:xfrm>
            <a:off x="10332852" y="3485014"/>
            <a:ext cx="6300300" cy="20289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000" b="1">
                <a:solidFill>
                  <a:srgbClr val="CD4146"/>
                </a:solidFill>
                <a:latin typeface="Poppins" panose="00000500000000000000"/>
                <a:ea typeface="Poppins" panose="00000500000000000000"/>
                <a:cs typeface="Poppins" panose="00000500000000000000"/>
                <a:sym typeface="Poppins" panose="00000500000000000000"/>
              </a:rPr>
              <a:t>Linear Regression &gt; Random Forest &gt; XGBoost.</a:t>
            </a:r>
            <a:r>
              <a:rPr lang="en-US" sz="2000">
                <a:solidFill>
                  <a:srgbClr val="CD4146"/>
                </a:solidFill>
                <a:latin typeface="Poppins" panose="00000500000000000000"/>
                <a:ea typeface="Poppins" panose="00000500000000000000"/>
                <a:cs typeface="Poppins" panose="00000500000000000000"/>
                <a:sym typeface="Poppins" panose="00000500000000000000"/>
              </a:rPr>
              <a:t> Linear Regression coefficients are intuitive. Random Forest can rank feature importance. XGBoost is more complex and usually needs tools such as SHAP for explanation.</a:t>
            </a:r>
            <a:endParaRPr sz="20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8" name="Google Shape;258;p11"/>
          <p:cNvSpPr txBox="1"/>
          <p:nvPr/>
        </p:nvSpPr>
        <p:spPr>
          <a:xfrm>
            <a:off x="10496574" y="5776675"/>
            <a:ext cx="4615800" cy="428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85" b="1">
                <a:solidFill>
                  <a:srgbClr val="CD4146"/>
                </a:solidFill>
                <a:latin typeface="Poppins" panose="00000500000000000000"/>
                <a:ea typeface="Poppins" panose="00000500000000000000"/>
                <a:cs typeface="Poppins" panose="00000500000000000000"/>
                <a:sym typeface="Poppins" panose="00000500000000000000"/>
              </a:rPr>
              <a:t>Application Scenarios</a:t>
            </a:r>
            <a:endParaRPr sz="2785" b="1"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59" name="Google Shape;259;p11"/>
          <p:cNvSpPr txBox="1"/>
          <p:nvPr/>
        </p:nvSpPr>
        <p:spPr>
          <a:xfrm>
            <a:off x="10332850" y="6468125"/>
            <a:ext cx="6636900" cy="15987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2000">
                <a:solidFill>
                  <a:srgbClr val="CD4146"/>
                </a:solidFill>
                <a:latin typeface="Poppins" panose="00000500000000000000"/>
                <a:ea typeface="Poppins" panose="00000500000000000000"/>
                <a:cs typeface="Poppins" panose="00000500000000000000"/>
                <a:sym typeface="Poppins" panose="00000500000000000000"/>
              </a:rPr>
              <a:t>Linear Regression: clear linear relationships and fast modeling. Random Forest: medium-sized data and stable results. XGBoost: highest accuracy, large datasets, and sufficient computing resources.</a:t>
            </a:r>
            <a:endParaRPr sz="20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grpSp>
        <p:nvGrpSpPr>
          <p:cNvPr id="260" name="Google Shape;260;p11"/>
          <p:cNvGrpSpPr/>
          <p:nvPr/>
        </p:nvGrpSpPr>
        <p:grpSpPr>
          <a:xfrm>
            <a:off x="1190474" y="2785378"/>
            <a:ext cx="699658" cy="699658"/>
            <a:chOff x="0" y="0"/>
            <a:chExt cx="812800" cy="812800"/>
          </a:xfrm>
        </p:grpSpPr>
        <p:sp>
          <p:nvSpPr>
            <p:cNvPr id="261" name="Google Shape;261;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11"/>
            <p:cNvSpPr txBox="1"/>
            <p:nvPr/>
          </p:nvSpPr>
          <p:spPr>
            <a:xfrm>
              <a:off x="76200" y="19050"/>
              <a:ext cx="660300" cy="7176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3" name="Google Shape;263;p11"/>
          <p:cNvGrpSpPr/>
          <p:nvPr/>
        </p:nvGrpSpPr>
        <p:grpSpPr>
          <a:xfrm>
            <a:off x="1199924" y="5644724"/>
            <a:ext cx="699658" cy="699658"/>
            <a:chOff x="0" y="0"/>
            <a:chExt cx="812800" cy="812800"/>
          </a:xfrm>
        </p:grpSpPr>
        <p:sp>
          <p:nvSpPr>
            <p:cNvPr id="264" name="Google Shape;26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11"/>
            <p:cNvSpPr txBox="1"/>
            <p:nvPr/>
          </p:nvSpPr>
          <p:spPr>
            <a:xfrm>
              <a:off x="76200" y="19050"/>
              <a:ext cx="660300" cy="7176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6" name="Google Shape;266;p11"/>
          <p:cNvGrpSpPr/>
          <p:nvPr/>
        </p:nvGrpSpPr>
        <p:grpSpPr>
          <a:xfrm>
            <a:off x="9269277" y="2837253"/>
            <a:ext cx="699658" cy="699658"/>
            <a:chOff x="0" y="0"/>
            <a:chExt cx="812800" cy="812800"/>
          </a:xfrm>
        </p:grpSpPr>
        <p:sp>
          <p:nvSpPr>
            <p:cNvPr id="267" name="Google Shape;267;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11"/>
            <p:cNvSpPr txBox="1"/>
            <p:nvPr/>
          </p:nvSpPr>
          <p:spPr>
            <a:xfrm>
              <a:off x="76200" y="19050"/>
              <a:ext cx="660300" cy="7176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9" name="Google Shape;269;p11"/>
          <p:cNvGrpSpPr/>
          <p:nvPr/>
        </p:nvGrpSpPr>
        <p:grpSpPr>
          <a:xfrm>
            <a:off x="9269277" y="5644724"/>
            <a:ext cx="699658" cy="699658"/>
            <a:chOff x="0" y="0"/>
            <a:chExt cx="812800" cy="812800"/>
          </a:xfrm>
        </p:grpSpPr>
        <p:sp>
          <p:nvSpPr>
            <p:cNvPr id="270" name="Google Shape;270;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11"/>
            <p:cNvSpPr txBox="1"/>
            <p:nvPr/>
          </p:nvSpPr>
          <p:spPr>
            <a:xfrm>
              <a:off x="76200" y="19050"/>
              <a:ext cx="660300" cy="7176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2" name="Google Shape;272;p11"/>
          <p:cNvSpPr txBox="1"/>
          <p:nvPr/>
        </p:nvSpPr>
        <p:spPr>
          <a:xfrm>
            <a:off x="1159602" y="2837238"/>
            <a:ext cx="780300" cy="428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1</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73" name="Google Shape;273;p11"/>
          <p:cNvSpPr txBox="1"/>
          <p:nvPr/>
        </p:nvSpPr>
        <p:spPr>
          <a:xfrm>
            <a:off x="1159625" y="5696584"/>
            <a:ext cx="780300" cy="428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2</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74" name="Google Shape;274;p11"/>
          <p:cNvSpPr txBox="1"/>
          <p:nvPr/>
        </p:nvSpPr>
        <p:spPr>
          <a:xfrm>
            <a:off x="9228978" y="2889113"/>
            <a:ext cx="780300" cy="428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3</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75" name="Google Shape;275;p11"/>
          <p:cNvSpPr txBox="1"/>
          <p:nvPr/>
        </p:nvSpPr>
        <p:spPr>
          <a:xfrm>
            <a:off x="9228978" y="5696584"/>
            <a:ext cx="780300" cy="4287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85" b="1" i="0" u="none" strike="noStrike" cap="none">
                <a:solidFill>
                  <a:srgbClr val="FFFFFF"/>
                </a:solidFill>
                <a:latin typeface="Poppins" panose="00000500000000000000"/>
                <a:ea typeface="Poppins" panose="00000500000000000000"/>
                <a:cs typeface="Poppins" panose="00000500000000000000"/>
                <a:sym typeface="Poppins" panose="00000500000000000000"/>
              </a:rPr>
              <a:t>4</a:t>
            </a:r>
            <a:endParaRPr sz="2785" b="1" i="0" u="none" strike="noStrike" cap="none">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79" name="Shape 279"/>
        <p:cNvGrpSpPr/>
        <p:nvPr/>
      </p:nvGrpSpPr>
      <p:grpSpPr>
        <a:xfrm>
          <a:off x="0" y="0"/>
          <a:ext cx="0" cy="0"/>
          <a:chOff x="0" y="0"/>
          <a:chExt cx="0" cy="0"/>
        </a:xfrm>
      </p:grpSpPr>
      <p:sp>
        <p:nvSpPr>
          <p:cNvPr id="280" name="Google Shape;280;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281" name="Google Shape;281;p12"/>
          <p:cNvSpPr/>
          <p:nvPr/>
        </p:nvSpPr>
        <p:spPr>
          <a:xfrm>
            <a:off x="-2949614" y="6446736"/>
            <a:ext cx="4782302" cy="4712487"/>
          </a:xfrm>
          <a:custGeom>
            <a:avLst/>
            <a:gdLst/>
            <a:ahLst/>
            <a:cxnLst/>
            <a:rect l="l" t="t" r="r" b="b"/>
            <a:pathLst>
              <a:path w="4782302" h="4712487" extrusionOk="0">
                <a:moveTo>
                  <a:pt x="0" y="0"/>
                </a:moveTo>
                <a:lnTo>
                  <a:pt x="4782302" y="0"/>
                </a:lnTo>
                <a:lnTo>
                  <a:pt x="4782302" y="4712488"/>
                </a:lnTo>
                <a:lnTo>
                  <a:pt x="0" y="4712488"/>
                </a:lnTo>
                <a:lnTo>
                  <a:pt x="0" y="0"/>
                </a:lnTo>
                <a:close/>
              </a:path>
            </a:pathLst>
          </a:custGeom>
          <a:blipFill rotWithShape="1">
            <a:blip r:embed="rId2"/>
            <a:stretch>
              <a:fillRect/>
            </a:stretch>
          </a:blipFill>
          <a:ln>
            <a:noFill/>
          </a:ln>
        </p:spPr>
      </p:sp>
      <p:sp>
        <p:nvSpPr>
          <p:cNvPr id="282" name="Google Shape;282;p12"/>
          <p:cNvSpPr/>
          <p:nvPr/>
        </p:nvSpPr>
        <p:spPr>
          <a:xfrm>
            <a:off x="2053370" y="3711733"/>
            <a:ext cx="5873254" cy="4625187"/>
          </a:xfrm>
          <a:custGeom>
            <a:avLst/>
            <a:gdLst/>
            <a:ahLst/>
            <a:cxnLst/>
            <a:rect l="l" t="t" r="r" b="b"/>
            <a:pathLst>
              <a:path w="5873254" h="4625187" extrusionOk="0">
                <a:moveTo>
                  <a:pt x="0" y="0"/>
                </a:moveTo>
                <a:lnTo>
                  <a:pt x="5873254" y="0"/>
                </a:lnTo>
                <a:lnTo>
                  <a:pt x="5873254" y="4625187"/>
                </a:lnTo>
                <a:lnTo>
                  <a:pt x="0" y="4625187"/>
                </a:lnTo>
                <a:lnTo>
                  <a:pt x="0" y="0"/>
                </a:lnTo>
                <a:close/>
              </a:path>
            </a:pathLst>
          </a:custGeom>
          <a:blipFill rotWithShape="1">
            <a:blip r:embed="rId3"/>
            <a:stretch>
              <a:fillRect/>
            </a:stretch>
          </a:blipFill>
          <a:ln>
            <a:noFill/>
          </a:ln>
        </p:spPr>
      </p:sp>
      <p:grpSp>
        <p:nvGrpSpPr>
          <p:cNvPr id="283" name="Google Shape;283;p12"/>
          <p:cNvGrpSpPr/>
          <p:nvPr/>
        </p:nvGrpSpPr>
        <p:grpSpPr>
          <a:xfrm>
            <a:off x="7937944" y="2384088"/>
            <a:ext cx="8529356" cy="6294501"/>
            <a:chOff x="0" y="-57150"/>
            <a:chExt cx="2246400" cy="1657800"/>
          </a:xfrm>
        </p:grpSpPr>
        <p:sp>
          <p:nvSpPr>
            <p:cNvPr id="284" name="Google Shape;284;p12"/>
            <p:cNvSpPr/>
            <p:nvPr/>
          </p:nvSpPr>
          <p:spPr>
            <a:xfrm>
              <a:off x="0" y="0"/>
              <a:ext cx="2246273" cy="1600508"/>
            </a:xfrm>
            <a:custGeom>
              <a:avLst/>
              <a:gdLst/>
              <a:ahLst/>
              <a:cxnLst/>
              <a:rect l="l" t="t" r="r" b="b"/>
              <a:pathLst>
                <a:path w="2246273" h="1600508" extrusionOk="0">
                  <a:moveTo>
                    <a:pt x="46295" y="0"/>
                  </a:moveTo>
                  <a:lnTo>
                    <a:pt x="2199978" y="0"/>
                  </a:lnTo>
                  <a:cubicBezTo>
                    <a:pt x="2212256" y="0"/>
                    <a:pt x="2224031" y="4877"/>
                    <a:pt x="2232713" y="13559"/>
                  </a:cubicBezTo>
                  <a:cubicBezTo>
                    <a:pt x="2241395" y="22241"/>
                    <a:pt x="2246273" y="34016"/>
                    <a:pt x="2246273" y="46295"/>
                  </a:cubicBezTo>
                  <a:lnTo>
                    <a:pt x="2246273" y="1554213"/>
                  </a:lnTo>
                  <a:cubicBezTo>
                    <a:pt x="2246273" y="1566491"/>
                    <a:pt x="2241395" y="1578266"/>
                    <a:pt x="2232713" y="1586948"/>
                  </a:cubicBezTo>
                  <a:cubicBezTo>
                    <a:pt x="2224031" y="1595630"/>
                    <a:pt x="2212256" y="1600508"/>
                    <a:pt x="2199978" y="1600508"/>
                  </a:cubicBezTo>
                  <a:lnTo>
                    <a:pt x="46295" y="1600508"/>
                  </a:lnTo>
                  <a:cubicBezTo>
                    <a:pt x="20727" y="1600508"/>
                    <a:pt x="0" y="1579781"/>
                    <a:pt x="0" y="1554213"/>
                  </a:cubicBezTo>
                  <a:lnTo>
                    <a:pt x="0" y="46295"/>
                  </a:lnTo>
                  <a:cubicBezTo>
                    <a:pt x="0" y="34016"/>
                    <a:pt x="4877" y="22241"/>
                    <a:pt x="13559" y="13559"/>
                  </a:cubicBezTo>
                  <a:cubicBezTo>
                    <a:pt x="22241" y="4877"/>
                    <a:pt x="34016" y="0"/>
                    <a:pt x="46295"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12"/>
            <p:cNvSpPr txBox="1"/>
            <p:nvPr/>
          </p:nvSpPr>
          <p:spPr>
            <a:xfrm>
              <a:off x="0" y="-57150"/>
              <a:ext cx="2246400" cy="16578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6" name="Google Shape;286;p12"/>
          <p:cNvSpPr txBox="1"/>
          <p:nvPr/>
        </p:nvSpPr>
        <p:spPr>
          <a:xfrm>
            <a:off x="8133715" y="2715895"/>
            <a:ext cx="9535160" cy="1772285"/>
          </a:xfrm>
          <a:prstGeom prst="rect">
            <a:avLst/>
          </a:prstGeom>
          <a:noFill/>
          <a:ln>
            <a:noFill/>
          </a:ln>
        </p:spPr>
        <p:txBody>
          <a:bodyPr spcFirstLastPara="1" wrap="square" lIns="0" tIns="0" rIns="0" bIns="0" anchor="t" anchorCtr="0">
            <a:spAutoFit/>
          </a:bodyPr>
          <a:lstStyle/>
          <a:p>
            <a:pPr marL="0" marR="0" lvl="0" indent="0" algn="l" rtl="0">
              <a:lnSpc>
                <a:spcPct val="99000"/>
              </a:lnSpc>
              <a:spcBef>
                <a:spcPts val="0"/>
              </a:spcBef>
              <a:spcAft>
                <a:spcPts val="0"/>
              </a:spcAft>
              <a:buNone/>
            </a:pPr>
            <a:r>
              <a:rPr lang="en-US" sz="5815">
                <a:solidFill>
                  <a:srgbClr val="CD4146"/>
                </a:solidFill>
                <a:latin typeface="Oswald"/>
                <a:ea typeface="Oswald"/>
                <a:cs typeface="Oswald"/>
                <a:sym typeface="Oswald"/>
              </a:rPr>
              <a:t>Summary Analysis: </a:t>
            </a:r>
            <a:endParaRPr sz="5815">
              <a:solidFill>
                <a:srgbClr val="CD4146"/>
              </a:solidFill>
              <a:latin typeface="Oswald"/>
              <a:ea typeface="Oswald"/>
              <a:cs typeface="Oswald"/>
              <a:sym typeface="Oswald"/>
            </a:endParaRPr>
          </a:p>
          <a:p>
            <a:pPr marL="0" marR="0" lvl="0" indent="0" algn="l" rtl="0">
              <a:lnSpc>
                <a:spcPct val="99000"/>
              </a:lnSpc>
              <a:spcBef>
                <a:spcPts val="0"/>
              </a:spcBef>
              <a:spcAft>
                <a:spcPts val="0"/>
              </a:spcAft>
              <a:buNone/>
            </a:pPr>
            <a:r>
              <a:rPr lang="en-US" sz="5815">
                <a:solidFill>
                  <a:srgbClr val="CD4146"/>
                </a:solidFill>
                <a:latin typeface="Oswald"/>
                <a:ea typeface="Oswald"/>
                <a:cs typeface="Oswald"/>
                <a:sym typeface="Oswald"/>
              </a:rPr>
              <a:t>Best Model Recommendation</a:t>
            </a:r>
            <a:endParaRPr sz="5815" b="0" i="0" u="none" strike="noStrike" cap="none">
              <a:solidFill>
                <a:srgbClr val="CD4146"/>
              </a:solidFill>
              <a:latin typeface="Oswald"/>
              <a:ea typeface="Oswald"/>
              <a:cs typeface="Oswald"/>
              <a:sym typeface="Oswald"/>
            </a:endParaRPr>
          </a:p>
        </p:txBody>
      </p:sp>
      <p:sp>
        <p:nvSpPr>
          <p:cNvPr id="287" name="Google Shape;287;p12"/>
          <p:cNvSpPr txBox="1"/>
          <p:nvPr/>
        </p:nvSpPr>
        <p:spPr>
          <a:xfrm>
            <a:off x="8213265" y="4643600"/>
            <a:ext cx="7978200" cy="3943500"/>
          </a:xfrm>
          <a:prstGeom prst="rect">
            <a:avLst/>
          </a:prstGeom>
          <a:noFill/>
          <a:ln>
            <a:noFill/>
          </a:ln>
        </p:spPr>
        <p:txBody>
          <a:bodyPr spcFirstLastPara="1" wrap="square" lIns="0" tIns="0" rIns="0" bIns="0" anchor="t" anchorCtr="0">
            <a:spAutoFit/>
          </a:bodyPr>
          <a:lstStyle/>
          <a:p>
            <a:pPr marL="0" marR="0" lvl="0" indent="457200" algn="just" rtl="0">
              <a:lnSpc>
                <a:spcPct val="140000"/>
              </a:lnSpc>
              <a:spcBef>
                <a:spcPts val="0"/>
              </a:spcBef>
              <a:spcAft>
                <a:spcPts val="0"/>
              </a:spcAft>
              <a:buNone/>
            </a:pPr>
            <a:r>
              <a:rPr lang="en-US" sz="2100">
                <a:solidFill>
                  <a:srgbClr val="CD4146"/>
                </a:solidFill>
                <a:latin typeface="Poppins" panose="00000500000000000000"/>
                <a:ea typeface="Poppins" panose="00000500000000000000"/>
                <a:cs typeface="Poppins" panose="00000500000000000000"/>
                <a:sym typeface="Poppins" panose="00000500000000000000"/>
              </a:rPr>
              <a:t>Based on the overall analysis, XGBoost is the best-performing model for the house price prediction task. It outperforms Random Forest and Linear Regression on key metrics such as R², RMSE, and MAE. XGBoost can effectively capture nonlinear relationships in house price data, while also showing good generalization ability and relatively efficient training performance. Therefore, XGBoost is recommended as the preferred model for practical house price prediction applications.</a:t>
            </a:r>
            <a:endParaRPr sz="2100" b="0" i="0" u="none" strike="noStrike" cap="none">
              <a:solidFill>
                <a:srgbClr val="CD4146"/>
              </a:solidFill>
              <a:latin typeface="Poppins" panose="00000500000000000000"/>
              <a:ea typeface="Poppins" panose="00000500000000000000"/>
              <a:cs typeface="Poppins" panose="00000500000000000000"/>
              <a:sym typeface="Poppins" panose="00000500000000000000"/>
            </a:endParaRPr>
          </a:p>
        </p:txBody>
      </p:sp>
      <p:sp>
        <p:nvSpPr>
          <p:cNvPr id="288" name="Google Shape;288;p12"/>
          <p:cNvSpPr/>
          <p:nvPr/>
        </p:nvSpPr>
        <p:spPr>
          <a:xfrm>
            <a:off x="14868149" y="-2964719"/>
            <a:ext cx="4782302" cy="4712487"/>
          </a:xfrm>
          <a:custGeom>
            <a:avLst/>
            <a:gdLst/>
            <a:ahLst/>
            <a:cxnLst/>
            <a:rect l="l" t="t" r="r" b="b"/>
            <a:pathLst>
              <a:path w="4782302" h="4712487" extrusionOk="0">
                <a:moveTo>
                  <a:pt x="0" y="0"/>
                </a:moveTo>
                <a:lnTo>
                  <a:pt x="4782302" y="0"/>
                </a:lnTo>
                <a:lnTo>
                  <a:pt x="4782302" y="4712487"/>
                </a:lnTo>
                <a:lnTo>
                  <a:pt x="0" y="4712487"/>
                </a:lnTo>
                <a:lnTo>
                  <a:pt x="0" y="0"/>
                </a:lnTo>
                <a:close/>
              </a:path>
            </a:pathLst>
          </a:custGeom>
          <a:blipFill rotWithShape="1">
            <a:blip r:embed="rId2"/>
            <a:stretch>
              <a:fillRect/>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1"/>
            <a:stretch>
              <a:fillRect/>
            </a:stretch>
          </a:blipFill>
          <a:ln>
            <a:noFill/>
          </a:ln>
        </p:spPr>
      </p:sp>
      <p:sp>
        <p:nvSpPr>
          <p:cNvPr id="294" name="Google Shape;294;p13"/>
          <p:cNvSpPr/>
          <p:nvPr/>
        </p:nvSpPr>
        <p:spPr>
          <a:xfrm>
            <a:off x="-704117" y="8148954"/>
            <a:ext cx="6081308" cy="5992529"/>
          </a:xfrm>
          <a:custGeom>
            <a:avLst/>
            <a:gdLst/>
            <a:ahLst/>
            <a:cxnLst/>
            <a:rect l="l" t="t" r="r" b="b"/>
            <a:pathLst>
              <a:path w="6081308" h="5992529" extrusionOk="0">
                <a:moveTo>
                  <a:pt x="0" y="0"/>
                </a:moveTo>
                <a:lnTo>
                  <a:pt x="6081308" y="0"/>
                </a:lnTo>
                <a:lnTo>
                  <a:pt x="6081308" y="5992529"/>
                </a:lnTo>
                <a:lnTo>
                  <a:pt x="0" y="5992529"/>
                </a:lnTo>
                <a:lnTo>
                  <a:pt x="0" y="0"/>
                </a:lnTo>
                <a:close/>
              </a:path>
            </a:pathLst>
          </a:custGeom>
          <a:blipFill rotWithShape="1">
            <a:blip r:embed="rId2"/>
            <a:stretch>
              <a:fillRect/>
            </a:stretch>
          </a:blipFill>
          <a:ln>
            <a:noFill/>
          </a:ln>
        </p:spPr>
      </p:sp>
      <p:grpSp>
        <p:nvGrpSpPr>
          <p:cNvPr id="295" name="Google Shape;295;p13"/>
          <p:cNvGrpSpPr/>
          <p:nvPr/>
        </p:nvGrpSpPr>
        <p:grpSpPr>
          <a:xfrm>
            <a:off x="1028700" y="811707"/>
            <a:ext cx="16230707" cy="8446648"/>
            <a:chOff x="0" y="-57150"/>
            <a:chExt cx="4274726" cy="2224617"/>
          </a:xfrm>
        </p:grpSpPr>
        <p:sp>
          <p:nvSpPr>
            <p:cNvPr id="296" name="Google Shape;296;p13"/>
            <p:cNvSpPr/>
            <p:nvPr/>
          </p:nvSpPr>
          <p:spPr>
            <a:xfrm>
              <a:off x="0" y="0"/>
              <a:ext cx="4274726" cy="2167467"/>
            </a:xfrm>
            <a:custGeom>
              <a:avLst/>
              <a:gdLst/>
              <a:ahLst/>
              <a:cxnLst/>
              <a:rect l="l" t="t" r="r" b="b"/>
              <a:pathLst>
                <a:path w="4274726" h="2167467" extrusionOk="0">
                  <a:moveTo>
                    <a:pt x="16218" y="0"/>
                  </a:moveTo>
                  <a:lnTo>
                    <a:pt x="4258508" y="0"/>
                  </a:lnTo>
                  <a:cubicBezTo>
                    <a:pt x="4267465" y="0"/>
                    <a:pt x="4274726" y="7261"/>
                    <a:pt x="4274726" y="16218"/>
                  </a:cubicBezTo>
                  <a:lnTo>
                    <a:pt x="4274726" y="2151249"/>
                  </a:lnTo>
                  <a:cubicBezTo>
                    <a:pt x="4274726" y="2160206"/>
                    <a:pt x="4267465" y="2167467"/>
                    <a:pt x="4258508" y="2167467"/>
                  </a:cubicBezTo>
                  <a:lnTo>
                    <a:pt x="16218" y="2167467"/>
                  </a:lnTo>
                  <a:cubicBezTo>
                    <a:pt x="7261" y="2167467"/>
                    <a:pt x="0" y="2160206"/>
                    <a:pt x="0" y="2151249"/>
                  </a:cubicBezTo>
                  <a:lnTo>
                    <a:pt x="0" y="16218"/>
                  </a:lnTo>
                  <a:cubicBezTo>
                    <a:pt x="0" y="7261"/>
                    <a:pt x="7261" y="0"/>
                    <a:pt x="16218" y="0"/>
                  </a:cubicBezTo>
                  <a:close/>
                </a:path>
              </a:pathLst>
            </a:custGeom>
            <a:noFill/>
            <a:ln w="19050" cap="rnd" cmpd="sng">
              <a:solidFill>
                <a:srgbClr val="CD4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13"/>
            <p:cNvSpPr txBox="1"/>
            <p:nvPr/>
          </p:nvSpPr>
          <p:spPr>
            <a:xfrm>
              <a:off x="0" y="-57150"/>
              <a:ext cx="4274700" cy="2224500"/>
            </a:xfrm>
            <a:prstGeom prst="rect">
              <a:avLst/>
            </a:prstGeom>
            <a:noFill/>
            <a:ln>
              <a:noFill/>
            </a:ln>
          </p:spPr>
          <p:txBody>
            <a:bodyPr spcFirstLastPara="1" wrap="square" lIns="50800" tIns="50800" rIns="50800" bIns="50800" anchor="ctr" anchorCtr="0">
              <a:noAutofit/>
            </a:bodyPr>
            <a:lstStyle/>
            <a:p>
              <a:pPr marL="0" marR="0" lvl="0" indent="0" algn="ctr" rtl="0">
                <a:lnSpc>
                  <a:spcPct val="163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8" name="Google Shape;298;p13"/>
          <p:cNvSpPr txBox="1"/>
          <p:nvPr/>
        </p:nvSpPr>
        <p:spPr>
          <a:xfrm>
            <a:off x="2156460" y="2298700"/>
            <a:ext cx="15779750" cy="30460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140" b="0" i="0" u="none" strike="noStrike" cap="none">
                <a:solidFill>
                  <a:srgbClr val="CD4146"/>
                </a:solidFill>
                <a:latin typeface="Oswald"/>
                <a:ea typeface="Oswald"/>
                <a:cs typeface="Oswald"/>
                <a:sym typeface="Oswald"/>
              </a:rPr>
              <a:t>Thank for watching</a:t>
            </a:r>
            <a:endParaRPr sz="14140" b="0" i="0" u="none" strike="noStrike" cap="none">
              <a:solidFill>
                <a:srgbClr val="CD4146"/>
              </a:solidFill>
              <a:latin typeface="Oswald"/>
              <a:ea typeface="Oswald"/>
              <a:cs typeface="Oswald"/>
              <a:sym typeface="Oswald"/>
            </a:endParaRPr>
          </a:p>
        </p:txBody>
      </p:sp>
      <p:sp>
        <p:nvSpPr>
          <p:cNvPr id="299" name="Google Shape;299;p13"/>
          <p:cNvSpPr/>
          <p:nvPr/>
        </p:nvSpPr>
        <p:spPr>
          <a:xfrm>
            <a:off x="6978641" y="5141864"/>
            <a:ext cx="11309349" cy="3986546"/>
          </a:xfrm>
          <a:custGeom>
            <a:avLst/>
            <a:gdLst/>
            <a:ahLst/>
            <a:cxnLst/>
            <a:rect l="l" t="t" r="r" b="b"/>
            <a:pathLst>
              <a:path w="11309349" h="3986546" extrusionOk="0">
                <a:moveTo>
                  <a:pt x="0" y="0"/>
                </a:moveTo>
                <a:lnTo>
                  <a:pt x="11309350" y="0"/>
                </a:lnTo>
                <a:lnTo>
                  <a:pt x="11309350" y="3986545"/>
                </a:lnTo>
                <a:lnTo>
                  <a:pt x="0" y="3986545"/>
                </a:lnTo>
                <a:lnTo>
                  <a:pt x="0" y="0"/>
                </a:lnTo>
                <a:close/>
              </a:path>
            </a:pathLst>
          </a:custGeom>
          <a:blipFill rotWithShape="1">
            <a:blip r:embed="rId3"/>
            <a:stretch>
              <a:fillRect/>
            </a:stretch>
          </a:blipFill>
          <a:ln>
            <a:noFill/>
          </a:ln>
        </p:spPr>
      </p:sp>
      <p:sp>
        <p:nvSpPr>
          <p:cNvPr id="300" name="Google Shape;300;p13"/>
          <p:cNvSpPr/>
          <p:nvPr/>
        </p:nvSpPr>
        <p:spPr>
          <a:xfrm>
            <a:off x="14526952" y="-4360440"/>
            <a:ext cx="6081308" cy="5992529"/>
          </a:xfrm>
          <a:custGeom>
            <a:avLst/>
            <a:gdLst/>
            <a:ahLst/>
            <a:cxnLst/>
            <a:rect l="l" t="t" r="r" b="b"/>
            <a:pathLst>
              <a:path w="6081308" h="5992529" extrusionOk="0">
                <a:moveTo>
                  <a:pt x="0" y="0"/>
                </a:moveTo>
                <a:lnTo>
                  <a:pt x="6081308" y="0"/>
                </a:lnTo>
                <a:lnTo>
                  <a:pt x="6081308" y="5992530"/>
                </a:lnTo>
                <a:lnTo>
                  <a:pt x="0" y="5992530"/>
                </a:lnTo>
                <a:lnTo>
                  <a:pt x="0" y="0"/>
                </a:lnTo>
                <a:close/>
              </a:path>
            </a:pathLst>
          </a:custGeom>
          <a:blipFill rotWithShape="1">
            <a:blip r:embed="rId2"/>
            <a:stretch>
              <a:fillRect/>
            </a:stretch>
          </a:blipFill>
          <a:ln>
            <a:noFill/>
          </a:ln>
        </p:spPr>
      </p:sp>
      <p:sp>
        <p:nvSpPr>
          <p:cNvPr id="301" name="Google Shape;301;p13"/>
          <p:cNvSpPr/>
          <p:nvPr/>
        </p:nvSpPr>
        <p:spPr>
          <a:xfrm>
            <a:off x="2478175" y="6776000"/>
            <a:ext cx="718267" cy="718267"/>
          </a:xfrm>
          <a:custGeom>
            <a:avLst/>
            <a:gdLst/>
            <a:ahLst/>
            <a:cxnLst/>
            <a:rect l="l" t="t" r="r" b="b"/>
            <a:pathLst>
              <a:path w="322093" h="322093" extrusionOk="0">
                <a:moveTo>
                  <a:pt x="0" y="0"/>
                </a:moveTo>
                <a:lnTo>
                  <a:pt x="322093" y="0"/>
                </a:lnTo>
                <a:lnTo>
                  <a:pt x="322093" y="322093"/>
                </a:lnTo>
                <a:lnTo>
                  <a:pt x="0" y="322093"/>
                </a:lnTo>
                <a:lnTo>
                  <a:pt x="0" y="0"/>
                </a:lnTo>
                <a:close/>
              </a:path>
            </a:pathLst>
          </a:custGeom>
          <a:blipFill rotWithShape="1">
            <a:blip r:embed="rId4"/>
            <a:stretch>
              <a:fillRect/>
            </a:stretch>
          </a:blipFill>
          <a:ln>
            <a:noFill/>
          </a:ln>
        </p:spPr>
      </p:sp>
      <p:sp>
        <p:nvSpPr>
          <p:cNvPr id="302" name="Google Shape;302;p13"/>
          <p:cNvSpPr txBox="1"/>
          <p:nvPr/>
        </p:nvSpPr>
        <p:spPr>
          <a:xfrm>
            <a:off x="4098225" y="6827488"/>
            <a:ext cx="2172300" cy="615300"/>
          </a:xfrm>
          <a:prstGeom prst="rect">
            <a:avLst/>
          </a:prstGeom>
          <a:noFill/>
          <a:ln>
            <a:noFill/>
          </a:ln>
        </p:spPr>
        <p:txBody>
          <a:bodyPr spcFirstLastPara="1" wrap="square" lIns="0" tIns="0" rIns="0" bIns="0" anchor="t" anchorCtr="0">
            <a:noAutofit/>
          </a:bodyPr>
          <a:lstStyle/>
          <a:p>
            <a:pPr marL="0" marR="0" lvl="0" indent="0" algn="l" rtl="0">
              <a:lnSpc>
                <a:spcPct val="101000"/>
              </a:lnSpc>
              <a:spcBef>
                <a:spcPts val="0"/>
              </a:spcBef>
              <a:spcAft>
                <a:spcPts val="0"/>
              </a:spcAft>
              <a:buNone/>
            </a:pPr>
            <a:r>
              <a:rPr lang="en-US" sz="4800" b="1" i="0" u="none" strike="noStrike" cap="none">
                <a:solidFill>
                  <a:srgbClr val="CD4146"/>
                </a:solidFill>
                <a:latin typeface="DM Sans"/>
                <a:ea typeface="DM Sans"/>
                <a:cs typeface="DM Sans"/>
                <a:sym typeface="DM Sans"/>
              </a:rPr>
              <a:t>Q &amp; A</a:t>
            </a:r>
            <a:endParaRPr sz="4800" b="1" i="0" u="none" strike="noStrike" cap="none">
              <a:solidFill>
                <a:srgbClr val="CD4146"/>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4284</Words>
  <Application>WPS 表格</Application>
  <PresentationFormat/>
  <Paragraphs>168</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宋体</vt:lpstr>
      <vt:lpstr>Wingdings</vt:lpstr>
      <vt:lpstr>Arial</vt:lpstr>
      <vt:lpstr>Calibri</vt:lpstr>
      <vt:lpstr>Helvetica Neue</vt:lpstr>
      <vt:lpstr>Oswald</vt:lpstr>
      <vt:lpstr>Poppins</vt:lpstr>
      <vt:lpstr>DM Sans</vt:lpstr>
      <vt:lpstr>微软雅黑</vt:lpstr>
      <vt:lpstr>汉仪旗黑</vt:lpstr>
      <vt:lpstr>宋体</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apple</cp:lastModifiedBy>
  <cp:revision>1</cp:revision>
  <dcterms:created xsi:type="dcterms:W3CDTF">2026-05-06T07:36:34Z</dcterms:created>
  <dcterms:modified xsi:type="dcterms:W3CDTF">2026-05-06T07:36:34Z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1C2B3759D1B202DB54BCD9692143EA23_42</vt:lpwstr>
  </property>
  <property fmtid="{D5CDD505-2E9C-101B-9397-08002B2CF9AE}" pid="3" name="KSOProductBuildVer">
    <vt:lpwstr>2052-12.1.25880.25880</vt:lpwstr>
  </property>
</Properties>
</file>